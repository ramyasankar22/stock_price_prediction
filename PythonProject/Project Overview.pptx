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4" d="100"/>
          <a:sy n="74" d="100"/>
        </p:scale>
        <p:origin x="-126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DE98603-4655-4A4F-82CE-E7F9CE7AD98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75C876-3395-4718-B3A6-823D03EE7FAA}"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0DE98603-4655-4A4F-82CE-E7F9CE7AD98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75C876-3395-4718-B3A6-823D03EE7FAA}"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0DE98603-4655-4A4F-82CE-E7F9CE7AD98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75C876-3395-4718-B3A6-823D03EE7FAA}"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0DE98603-4655-4A4F-82CE-E7F9CE7AD98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75C876-3395-4718-B3A6-823D03EE7FAA}"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0DE98603-4655-4A4F-82CE-E7F9CE7AD984}"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975C876-3395-4718-B3A6-823D03EE7FAA}"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DE98603-4655-4A4F-82CE-E7F9CE7AD984}"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975C876-3395-4718-B3A6-823D03EE7FAA}"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E98603-4655-4A4F-82CE-E7F9CE7AD984}"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975C876-3395-4718-B3A6-823D03EE7FAA}"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0DE98603-4655-4A4F-82CE-E7F9CE7AD98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75C876-3395-4718-B3A6-823D03EE7FAA}" type="slidenum">
              <a:rPr lang="en-IN" smtClean="0"/>
            </a:fld>
            <a:endParaRPr lang="en-IN"/>
          </a:p>
        </p:txBody>
      </p:sp>
      <p:sp>
        <p:nvSpPr>
          <p:cNvPr id="9" name="Content Placeholder 8"/>
          <p:cNvSpPr>
            <a:spLocks noGrp="1"/>
          </p:cNvSpPr>
          <p:nvPr>
            <p:ph sz="quarter" idx="13"/>
          </p:nvPr>
        </p:nvSpPr>
        <p:spPr>
          <a:xfrm>
            <a:off x="304800" y="381000"/>
            <a:ext cx="7772400" cy="494284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8" name="Date Placeholder 7"/>
          <p:cNvSpPr>
            <a:spLocks noGrp="1"/>
          </p:cNvSpPr>
          <p:nvPr>
            <p:ph type="dt" sz="half" idx="10"/>
          </p:nvPr>
        </p:nvSpPr>
        <p:spPr/>
        <p:txBody>
          <a:bodyPr/>
          <a:lstStyle/>
          <a:p>
            <a:fld id="{0DE98603-4655-4A4F-82CE-E7F9CE7AD984}" type="datetimeFigureOut">
              <a:rPr lang="en-IN" smtClean="0"/>
            </a:fld>
            <a:endParaRPr lang="en-IN"/>
          </a:p>
        </p:txBody>
      </p:sp>
      <p:sp>
        <p:nvSpPr>
          <p:cNvPr id="9" name="Slide Number Placeholder 8"/>
          <p:cNvSpPr>
            <a:spLocks noGrp="1"/>
          </p:cNvSpPr>
          <p:nvPr>
            <p:ph type="sldNum" sz="quarter" idx="11"/>
          </p:nvPr>
        </p:nvSpPr>
        <p:spPr/>
        <p:txBody>
          <a:bodyPr/>
          <a:lstStyle/>
          <a:p>
            <a:fld id="{B975C876-3395-4718-B3A6-823D03EE7FAA}" type="slidenum">
              <a:rPr lang="en-IN" smtClean="0"/>
            </a:fld>
            <a:endParaRPr lang="en-IN"/>
          </a:p>
        </p:txBody>
      </p:sp>
      <p:sp>
        <p:nvSpPr>
          <p:cNvPr id="10" name="Footer Placeholder 9"/>
          <p:cNvSpPr>
            <a:spLocks noGrp="1"/>
          </p:cNvSpPr>
          <p:nvPr>
            <p:ph type="ftr" sz="quarter" idx="12"/>
          </p:nvPr>
        </p:nvSpPr>
        <p:spPr/>
        <p:txBody>
          <a:bodyPr/>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0DE98603-4655-4A4F-82CE-E7F9CE7AD98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75C876-3395-4718-B3A6-823D03EE7FAA}"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0DE98603-4655-4A4F-82CE-E7F9CE7AD98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75C876-3395-4718-B3A6-823D03EE7FAA}"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B975C876-3395-4718-B3A6-823D03EE7FAA}" type="slidenum">
              <a:rPr lang="en-IN" smtClean="0"/>
            </a:fld>
            <a:endParaRPr lang="en-IN"/>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IN"/>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0DE98603-4655-4A4F-82CE-E7F9CE7AD984}" type="datetimeFigureOut">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anose="020B0604020202020204"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anose="020B0604020202020204"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anose="020B0604020202020204"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29560" y="85215"/>
            <a:ext cx="7772400" cy="1470025"/>
          </a:xfrm>
        </p:spPr>
        <p:txBody>
          <a:bodyPr>
            <a:noAutofit/>
          </a:bodyPr>
          <a:lstStyle/>
          <a:p>
            <a:pPr algn="ctr"/>
            <a:r>
              <a:rPr lang="en-US" sz="3200" b="1" dirty="0" smtClean="0"/>
              <a:t>Project Overview</a:t>
            </a:r>
            <a:br>
              <a:rPr lang="en-US" sz="3200" b="1" dirty="0" smtClean="0"/>
            </a:br>
            <a:r>
              <a:rPr lang="en-US" sz="3200" b="1" dirty="0" smtClean="0"/>
              <a:t>Stock Price Prediction using Regression</a:t>
            </a:r>
            <a:br>
              <a:rPr lang="en-US" sz="3200" dirty="0" smtClean="0"/>
            </a:br>
            <a:endParaRPr lang="en-IN" sz="3200" dirty="0"/>
          </a:p>
        </p:txBody>
      </p:sp>
      <p:sp>
        <p:nvSpPr>
          <p:cNvPr id="5" name="Rectangle 1"/>
          <p:cNvSpPr>
            <a:spLocks noChangeArrowheads="1"/>
          </p:cNvSpPr>
          <p:nvPr/>
        </p:nvSpPr>
        <p:spPr bwMode="auto">
          <a:xfrm>
            <a:off x="30455" y="1555240"/>
            <a:ext cx="638668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Char char="•"/>
            </a:pPr>
            <a:r>
              <a:rPr kumimoji="0" lang="en-US" sz="20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Goal: Predict stock closing prices using historical data</a:t>
            </a:r>
            <a:endParaRPr kumimoji="0" lang="en-US" sz="20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sz="20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Dataset: Market price data</a:t>
            </a:r>
            <a:endParaRPr kumimoji="0" lang="en-US" sz="20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sz="20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Target Variable: Close price</a:t>
            </a:r>
            <a:endParaRPr kumimoji="0" lang="en-US" sz="20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sz="20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Input Features: Open, High, Low, Adj Close, Volume</a:t>
            </a:r>
            <a:endParaRPr kumimoji="0" lang="en-US" sz="20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sp>
        <p:nvSpPr>
          <p:cNvPr id="6" name="Title 1"/>
          <p:cNvSpPr txBox="1"/>
          <p:nvPr/>
        </p:nvSpPr>
        <p:spPr>
          <a:xfrm>
            <a:off x="272360" y="3212976"/>
            <a:ext cx="8686800" cy="841248"/>
          </a:xfrm>
          <a:prstGeom prst="rect">
            <a:avLst/>
          </a:prstGeom>
        </p:spPr>
        <p:txBody>
          <a:bodyPr vert="horz" anchor="t">
            <a:normAutofit/>
          </a:bodyPr>
          <a:lst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a:lstStyle>
          <a:p>
            <a:pPr algn="ctr"/>
            <a:r>
              <a:rPr lang="en-IN" b="1" dirty="0" smtClean="0">
                <a:latin typeface="+mn-lt"/>
                <a:cs typeface="+mn-lt"/>
              </a:rPr>
              <a:t>Preprocessing &amp; Models</a:t>
            </a:r>
            <a:endParaRPr lang="en-IN" b="1" dirty="0">
              <a:latin typeface="+mn-lt"/>
              <a:cs typeface="+mn-lt"/>
            </a:endParaRPr>
          </a:p>
        </p:txBody>
      </p:sp>
      <p:sp>
        <p:nvSpPr>
          <p:cNvPr id="7" name="Rectangle 6"/>
          <p:cNvSpPr/>
          <p:nvPr/>
        </p:nvSpPr>
        <p:spPr>
          <a:xfrm>
            <a:off x="611560" y="4054224"/>
            <a:ext cx="6628084" cy="2462213"/>
          </a:xfrm>
          <a:prstGeom prst="rect">
            <a:avLst/>
          </a:prstGeom>
        </p:spPr>
        <p:txBody>
          <a:bodyPr wrap="square">
            <a:spAutoFit/>
          </a:bodyPr>
          <a:lstStyle/>
          <a:p>
            <a:r>
              <a:rPr lang="en-IN" sz="2800" b="1" dirty="0" smtClean="0">
                <a:solidFill>
                  <a:schemeClr val="accent6">
                    <a:lumMod val="50000"/>
                  </a:schemeClr>
                </a:solidFill>
              </a:rPr>
              <a:t>Data Preparation and Algorithms</a:t>
            </a:r>
            <a:endParaRPr lang="en-IN" sz="2800" dirty="0" smtClean="0">
              <a:solidFill>
                <a:schemeClr val="accent6">
                  <a:lumMod val="50000"/>
                </a:schemeClr>
              </a:solidFill>
            </a:endParaRPr>
          </a:p>
          <a:p>
            <a:pPr marL="285750" indent="-285750">
              <a:buFont typeface="Courier New" panose="02070309020205020404" pitchFamily="49" charset="0"/>
              <a:buChar char="o"/>
            </a:pPr>
            <a:r>
              <a:rPr lang="en-IN" dirty="0" smtClean="0"/>
              <a:t>Feature scaling applied for Linear &amp; Polynomial Regression</a:t>
            </a:r>
            <a:endParaRPr lang="en-IN" dirty="0" smtClean="0"/>
          </a:p>
          <a:p>
            <a:pPr marL="285750" indent="-285750">
              <a:buFont typeface="Courier New" panose="02070309020205020404" pitchFamily="49" charset="0"/>
              <a:buChar char="o"/>
            </a:pPr>
            <a:r>
              <a:rPr lang="en-IN" dirty="0" smtClean="0"/>
              <a:t>No scaling required for Decision Tree &amp; Random Forest</a:t>
            </a:r>
            <a:endParaRPr lang="en-IN" dirty="0" smtClean="0"/>
          </a:p>
          <a:p>
            <a:r>
              <a:rPr lang="en-IN" dirty="0" smtClean="0"/>
              <a:t>Models used:</a:t>
            </a:r>
            <a:endParaRPr lang="en-IN" dirty="0" smtClean="0"/>
          </a:p>
          <a:p>
            <a:pPr marL="742950" lvl="1" indent="-285750">
              <a:buFont typeface="Wingdings" panose="05000000000000000000" pitchFamily="2" charset="2"/>
              <a:buChar char="Ø"/>
            </a:pPr>
            <a:r>
              <a:rPr lang="en-IN" dirty="0" smtClean="0"/>
              <a:t>Linear Regression</a:t>
            </a:r>
            <a:endParaRPr lang="en-IN" dirty="0" smtClean="0"/>
          </a:p>
          <a:p>
            <a:pPr marL="742950" lvl="1" indent="-285750">
              <a:buFont typeface="Wingdings" panose="05000000000000000000" pitchFamily="2" charset="2"/>
              <a:buChar char="Ø"/>
            </a:pPr>
            <a:r>
              <a:rPr lang="en-IN" dirty="0" smtClean="0"/>
              <a:t>Polynomial Regression</a:t>
            </a:r>
            <a:endParaRPr lang="en-IN" dirty="0" smtClean="0"/>
          </a:p>
          <a:p>
            <a:pPr marL="742950" lvl="1" indent="-285750">
              <a:buFont typeface="Wingdings" panose="05000000000000000000" pitchFamily="2" charset="2"/>
              <a:buChar char="Ø"/>
            </a:pPr>
            <a:r>
              <a:rPr lang="en-IN" dirty="0" smtClean="0"/>
              <a:t>Decision Tree</a:t>
            </a:r>
            <a:endParaRPr lang="en-IN" dirty="0" smtClean="0"/>
          </a:p>
          <a:p>
            <a:pPr marL="742950" lvl="1" indent="-285750">
              <a:buFont typeface="Wingdings" panose="05000000000000000000" pitchFamily="2" charset="2"/>
              <a:buChar char="Ø"/>
            </a:pPr>
            <a:r>
              <a:rPr lang="en-IN" dirty="0" smtClean="0"/>
              <a:t>Random Forest</a:t>
            </a:r>
            <a:endParaRPr lang="en-IN" dirty="0" smtClean="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6481" y="82026"/>
            <a:ext cx="4019537" cy="3202958"/>
          </a:xfrm>
          <a:prstGeom prst="rect">
            <a:avLst/>
          </a:prstGeom>
        </p:spPr>
      </p:pic>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7223" y="176135"/>
            <a:ext cx="4035189" cy="3048979"/>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481" y="3428116"/>
            <a:ext cx="3961856" cy="3156995"/>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07224" y="3356992"/>
            <a:ext cx="4035189" cy="321543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data:image/png;base64,iVBORw0KGgoAAAANSUhEUgAAAjsAAAHHCAYAAABZbpmkAAAAOnRFWHRTb2Z0d2FyZQBNYXRwbG90bGliIHZlcnNpb24zLjEwLjAsIGh0dHBzOi8vbWF0cGxvdGxpYi5vcmcvlHJYcgAAAAlwSFlzAAAPYQAAD2EBqD+naQAAX+dJREFUeJzt3XlYVGX7B/DvsO+DgDCQBIimjuAeOppobqBEqfhqrrjkFpZL+Rq9JqGppa1WaraopWaWmmFKuS9JoiIKoqSESwJikoALIDPP7w9+nBwBmcFhG76f65rrYp7znDP3ORyZ2/NsMiGEABEREZGRMqntAIiIiIiqE5MdIiIiMmpMdoiIiMioMdkhIiIio8Zkh4iIiIwakx0iIiIyakx2iIiIyKgx2SEiIiKjxmSHiIiIjBqTHapzLl68CJlMhjVr1tR2KPQIxo4dC29v79oOw2jIZDK8+eabtR1GrevZsyd69uwpva+Lfy8ejJFqH5MdqlFr1qyBTCbD8ePHazuUavPmm29CJpNJL3Nzc3h7e+Pll1/GzZs3azs8ArB8+XLIZDJ07ty5ysfIyMjAm2++icTERMMFVsft37+/zL3dtGlTjBkzBn/++Wdth6eXI0eO4M033+S/yQbCrLYDIHqQl5cX7t69C3Nz89oO5ZGsWLECdnZ2uH37Nvbs2YOPP/4YCQkJOHz4cG2HViM+//xzaDSa2g6jXOvXr4e3tzfi4+Nx4cIFNGvWTO9jZGRkIDo6Gt7e3mjXrp3hg6zDXn75ZTz55JO4d+8eEhISsGrVKvz8889ISkqCh4dHjcZS1b8XR44cQXR0NMaOHQtHR8fqCY7qDD7ZoTpHJpPBysoKpqamtR1Khe7cuVNpnSFDhmDUqFGYPHkyNm3ahGHDhuG3335DfHx8DUT4L41Gg4KCghr9TAAwNzeHpaVljX9uZdLT03HkyBG8//77aNy4MdavX1/bIdU73bt3x6hRozBu3Dh8/PHHePfdd5GTk4O1a9dWuM/t27erJZb68PeCah+THapzymuDHzt2LOzs7HD16lUMHDgQdnZ2aNy4MV599VWo1Wqt/TUaDT788EO0bt0aVlZWcHNzw+TJk/HPP/9o1du2bRtCQkLg4eEBS0tL+Pr6YsGCBWWO17NnT/j5+eHEiRMIDAyEjY0NXn/9db3Pq3v37gCAtLQ0rfKjR48iODgYcrkcNjY26NGjB3777bcy++/fvx+dOnWClZUVfH198dlnn0lNZveTyWSYNm0a1q9fj9atW8PS0hKxsbEAgKtXr2L8+PFwc3ODpaUlWrduja+++qrMZ3388cdo3bo1bGxs0KhRI3Tq1AkbNmyQtufn52PGjBnw9vaGpaUlXF1d0bdvXyQkJEh1yuuzc/v2bbzyyivw9PSEpaUlWrRogXfffRdCiHLP4ccff4Sfn58Ua+l53O/cuXO4fPlyeZe8XOvXr0ejRo0QEhKCIUOGVJjs3Lx5EzNnzpTOsUmTJhgzZgz+/vtv7N+/H08++SQAYNy4cVKzTuk96+3tjbFjx5Y55oN9OYqKijBv3jx07NgRcrkctra26N69O/bt26fz+ZS6du0azMzMEB0dXWZbamoqZDIZPvnkEwDAvXv3EB0djebNm8PKygrOzs546qmnsGvXLr0/FwB69eoFoCSRBP5tyk1JScGIESPQqFEjPPXUU1L9devWoWPHjrC2toaTkxOef/55XLlypcxxV61aBV9fX1hbWyMgIACHDh0qU6eiPjvnzp3D0KFD0bhxY1hbW6NFixb43//+J8U3e/ZsAICPj4/0+7t48WK1xEi1j81YVG+o1WoEBQWhc+fOePfdd7F7926899578PX1xdSpU6V6kydPxpo1azBu3Di8/PLLSE9PxyeffIKTJ0/it99+kx53r1mzBnZ2dpg1axbs7Oywd+9ezJs3D3l5eVi6dKnWZ9+4cQP9+/fH888/j1GjRsHNzU3v+Ev/kDZq1Egq27t3L/r374+OHTsiKioKJiYmWL16NXr16oVDhw4hICAAAHDy5EkEBwfD3d0d0dHRUKvVmD9/Pho3blzuZ+3duxebNm3CtGnT4OLiAm9vb1y7dg1dunSREonGjRtj586dmDBhAvLy8jBjxgwAJc1PL7/8MoYMGYLp06ejoKAAp0+fxtGjRzFixAgAwJQpU/DDDz9g2rRpUCqVuHHjBg4fPoyzZ8+iQ4cO5cYkhMCzzz6Lffv2YcKECWjXrh1++eUXzJ49G1evXsUHH3ygVf/w4cPYsmULXnzxRdjb22PZsmUICwvD5cuX4ezsLNVr1aoVevTogf379+v0e1i/fj0GDx4MCwsLDB8+HCtWrMCxY8ek5AUAbt26he7du+Ps2bMYP348OnTogL///hs//fQT/vrrL7Rq1Qrz58/HvHnzMGnSJCmR7dq1q04xlMrLy8MXX3yB4cOHY+LEicjPz8eXX36JoKAgxMfH69U85ubmhh49emDTpk2IiorS2vbdd9/B1NQU//nPfwCUfNkvXrwYL7zwAgICApCXl4fjx48jISEBffv21escgH8T+Pt/LwDwn//8B82bN8eiRYukhHbhwoV44403MHToULzwwgu4fv06Pv74YwQGBuLkyZNSk9KXX36JyZMno2vXrpgxYwb+/PNPPPvss3BycoKnp+dD4zl9+jS6d+8Oc3NzTJo0Cd7e3khLS0NMTAwWLlyIwYMH448//sC3336LDz74AC4uLgAg/XuqiRiphgmiGrR69WoBQBw7dqzCOunp6QKAWL16tVQWHh4uAIj58+dr1W3fvr3o2LGj9P7QoUMCgFi/fr1WvdjY2DLld+7cKfPZkydPFjY2NqKgoEAq69GjhwAgVq5cqdM5RkVFCQAiNTVVXL9+XVy8eFF89dVXwtraWjRu3Fjcvn1bCCGERqMRzZs3F0FBQUKj0WjF5ePjI/r27SuVhYaGChsbG3H16lWp7Pz588LMzEw8+M8YgDAxMRFnzpzRKp8wYYJwd3cXf//9t1b5888/L+RyuXQ9nnvuOdG6deuHnqNcLhcREREPrRMeHi68vLyk9z/++KMAIN566y2tekOGDBEymUxcuHBB6xwsLCy0yk6dOiUAiI8//rjM+fbo0eOhsZQ6fvy4ACB27dolhCj5HTRp0kRMnz5dq968efMEALFly5Yyxyj9XR07dqzMfVrKy8tLhIeHlynv0aOHVqzFxcWisLBQq84///wj3NzcxPjx47XKAYioqKiHnt9nn30mAIikpCStcqVSKXr16iW9b9u2rQgJCXnoscqzb98+AUB89dVX4vr16yIjI0P8/PPPwtvbW8hkMunfdem/geHDh2vtf/HiRWFqaioWLlyoVZ6UlCTMzMyk8qKiIuHq6iratWundX1WrVpV5vdd3t+LwMBAYW9vLy5duqT1Off/O1u6dKkAINLT06s9Rqp9bMaiemXKlCla77t37641CuT777+HXC5H37598ffff0uvjh07ws7OTqt5wNraWvo5Pz8ff//9N7p37447d+7g3LlzWp9jaWmJcePG6RVrixYt0LhxY3h7e2P8+PFo1qwZdu7cCRsbGwBAYmIizp8/jxEjRuDGjRtSrLdv30bv3r1x8OBBaDQaqNVq7N69GwMHDtTq/NmsWTP079+/3M/u0aMHlEql9F4Igc2bNyM0NBRCCK1rExQUhNzcXKkJytHREX/99ReOHTtW4bk5Ojri6NGjyMjI0Pl67NixA6ampnj55Ze1yl955RUIIbBz506t8j59+sDX11d636ZNGzg4OJQZ9SOE0OupjpubG55++mkAJc1lw4YNw8aNG7WaLzdv3oy2bdti0KBBZY7xYLPhozA1NYWFhQWAkubXnJwcFBcXo1OnTlpNgroaPHgwzMzM8N1330llycnJSElJwbBhw6QyR0dHnDlzBufPn69S3OPHj0fjxo3h4eGBkJAQ3L59G2vXrkWnTp206j3473XLli3QaDQYOnSo1j2oUCjQvHlz6d/n8ePHkZ2djSlTpkjXByhpGpXL5Q+N7fr16zh48CDGjx+Pxx9/XGubLr+7moiRah6bsajesLKyKtNs06hRI62+OOfPn0dubi5cXV3LPUZ2drb085kzZzB37lzs3bsXeXl5WvVyc3O13j/22GNaf9B0sXnzZjg4OOD69etYtmwZ0tPTtRKs0i+a8PDwCo+Rm5uLgoIC3L17t9wRQxWNIvLx8dF6f/36ddy8eROrVq3CqlWryt2n9NrMmTMHu3fvRkBAAJo1a4Z+/fphxIgR6Natm1R3yZIlCA8Ph6enJzp27IgBAwZgzJgxaNq0aYXncunSJXh4eMDe3l6rvFWrVtL2+z34RQWU/X3rQ61WY+PGjXj66aelviUA0LlzZ7z33nvYs2cP+vXrB6CkWSYsLKxKn6OvtWvX4r333sO5c+dw7949qfzB36EuXFxc0Lt3b2zatAkLFiwAUNKEZWZmhsGDB0v15s+fj+eeew5PPPEE/Pz8EBwcjNGjR6NNmzY6fc68efPQvXt3mJqawsXFBa1atYKZWdmvkwfP4fz58xBCoHnz5uUet7SJufReeLBe6VD3hylNhv38/HQ6lwfVRIxU85jsUL2hy2gLjUYDV1fXCjudliZLN2/eRI8ePeDg4ID58+fD19cXVlZWSEhIwJw5c8oMmb4/SdFVYGCg1BcgNDQU/v7+GDlyJE6cOAETExPpM5YuXVph3ww7O7sqjaR6MN7Szxo1alSFyVXpF12rVq2QmpqK7du3IzY2Fps3b8by5csxb948qfPr0KFD0b17d2zduhW//vorli5dinfeeQdbtmyp8GmTvir6fYsHOjPrau/evcjMzMTGjRuxcePGMtvXr18vJTuPqqInCGq1Wuu81q1bh7Fjx2LgwIGYPXs2XF1dYWpqisWLF5fpyK6r559/HuPGjUNiYiLatWuHTZs2oXfv3tK9CJTcm2lpadi2bRt+/fVXfPHFF/jggw+wcuVKvPDCC5V+hr+/P/r06VNpvfLuQ5lMhp07d5b7+7Wzs9PhDKtXfYiR9Mdkh4yKr68vdu/ejW7duj00Qdm/fz9u3LiBLVu2IDAwUCq//3/8hmRnZ4eoqCiMGzcOmzZtwvPPPy810Tg4ODz0i8PV1RVWVla4cOFCmW3llZWncePGsLe3h1qt1ulLytbWFsOGDcOwYcNQVFSEwYMHY+HChYiMjISVlRUAwN3dHS+++CJefPFFZGdno0OHDli4cGGFyY6Xlxd2796N/Px8rac7pU2GXl5eOp1LVa1fvx6urq749NNPy2zbsmULtm7dipUrV8La2hq+vr5ITk5+6PEe1iTSqFGjcieru3Tpktb/+n/44Qc0bdoUW7Zs0Tregx2M9TFw4EBMnjxZasr6448/EBkZWaaek5MTxo0bh3HjxuHWrVsIDAzEm2++qVOyU1W+vr4QQsDHxwdPPPFEhfVK74Xz589LI72AklFk6enpaNu2bYX7ll7fqv7+aiJGqnnss0NGZejQoVCr1dIj/PsVFxdLX0Cl/2O7/ylBUVERli9fXm2xjRw5Ek2aNME777wDAOjYsSN8fX3x7rvv4tatW2XqX79+XYq1T58++PHHH7X6yFy4cKFMP5eKmJqaIiwsDJs3by73S6D0s4CSkWf3s7CwgFKphBAC9+7dg1qtLtPM5+rqCg8PDxQWFlYYw4ABA6BWq6Xhz6U++OADyGSyKj8R0mXo+d27d7FlyxY888wzGDJkSJnXtGnTkJ+fj59++gkAEBYWhlOnTmHr1q1ljlV6z9ja2gJAuUmNr68vfv/9dxQVFUll27dvLzN0ubz78OjRo4iLi9PhzMvn6OiIoKAgbNq0CRs3boSFhQUGDhyoVefB37GdnR2aNWv20N+fIQwePBimpqaIjo4u84ROCCHF1alTJzRu3BgrV67UuoZr1qypdMbjxo0bIzAwEF999VWZ++L+z6zo91cTMVLN45MdqhVfffVVuXOmTJ8+/ZGO26NHD0yePBmLFy9GYmIi+vXrB3Nzc5w/fx7ff/89PvroIwwZMgRdu3ZFo0aNEB4ejpdffhkymQzffPNNlZtIdGFubo7p06dj9uzZiI2NRXBwML744gv0798frVu3xrhx4/DYY4/h6tWr2LdvHxwcHBATEwOgZKjwr7/+im7dumHq1KlS0uDn56fzcgVvv/029u3bh86dO2PixIlQKpXIyclBQkICdu/ejZycHABAv379oFAo0K1bN7i5ueHs2bP45JNPEBISAnt7e9y8eRNNmjTBkCFD0LZtW9jZ2WH37t04duwY3nvvvQo/PzQ0FE8//TT+97//4eLFi2jbti1+/fVXbNu2DTNmzNDqjKwPXYae//TTT8jPz8ezzz5b7vYuXbpIEwwOGzYMs2fPxg8//ID//Oc/GD9+PDp27IicnBz89NNPWLlyJdq2bQtfX184Ojpi5cqVsLe3h62tLTp37gwfHx+88MIL+OGHHxAcHIyhQ4ciLS0N69atK3OOzzzzDLZs2YJBgwYhJCQE6enpWLlyJZRKZbkJsK6GDRuGUaNGYfny5QgKCiozQ7BSqUTPnj3RsWNHODk54fjx49JUAtXJ19cXb731FiIjI3Hx4kUMHDgQ9vb2SE9Px9atWzFp0iS8+uqrMDc3x1tvvYXJkyejV69eGDZsGNLT07F69Wqd+sMsW7YMTz31FDp06IBJkybBx8cHFy9exM8//yz9e+nYsSMA4H//+x+ef/55mJubIzQ0tMZipBpWw6O/qIErHXpe0evKlSsVDj23tbUtc7zSIa4PWrVqlejYsaOwtrYW9vb2wt/fX/z3v/8VGRkZUp3ffvtNdOnSRVhbWwsPDw/x3//+V/zyyy8CgNi3b59Ur0ePHpUOxS4vpuvXr5fZlpubK+Ryudaw1JMnT4rBgwcLZ2dnYWlpKby8vMTQoUPFnj17tPbds2ePaN++vbCwsBC+vr7iiy++EK+88oqwsrLSqgegwmHh165dExEREcLT01OYm5sLhUIhevfuLVatWiXV+eyzz0RgYKAUj6+vr5g9e7bIzc0VQghRWFgoZs+eLdq2bSvs7e2Fra2taNu2rVi+fLnWZz049FwIIfLz88XMmTOFh4eHMDc3F82bNxdLly7VGhL8sHMob0g3dBjmGxoaKqysrKRh/+UZO3asMDc3l4bm37hxQ0ybNk089thjwsLCQjRp0kSEh4drDd3ftm2bUCqV0hQA99+z7733nnjssceEpaWl6Natmzh+/HiZoecajUYsWrRIeHl5CUtLS9G+fXuxffv2cq8ddBh6XiovL09YW1sLAGLdunVltr/11lsiICBAODo6Cmtra9GyZUuxcOFCUVRU9NDjlg49//777x9a72H/BoQQYvPmzeKpp54Stra2wtbWVrRs2VJERESI1NRUrXrLly8XPj4+wtLSUnTq1EkcPHiwzDUs7++FEEIkJyeLQYMGCUdHR2FlZSVatGgh3njjDa06CxYsEI899pgwMTEpMwzdkDFS7ZMJUY3/lSWiajVw4MBHGkJMRNQQsM8OUT1x9+5drffnz5/Hjh07tJYfICKisvhkh6iecHd3x9ixY9G0aVNcunQJK1asQGFhIU6ePFnhnCBERMQOykT1RnBwML799ltkZWXB0tISKpUKixYtYqJDRFQJPtkhIiIio8Y+O0RERGTUmOwQERGRUWOfHZSshZKRkQF7e3uDrmhMRERE1UcIgfz8fHh4eMDEpOLnN0x2AGRkZMDT07O2wyAiIqIquHLlCpo0aVLhdiY7gLQo4ZUrV+Dg4FDL0RAREZEu8vLy4OnpqbW4cHmY7ODf1W8dHByY7BAREdUzlXVBYQdlIiIiMmpMdoiIiMioMdkhIiIio8Zkh4iIiIwakx0iIiIyakx2iIiIyKgx2SEiIiKjxmSHiIiIjBqTHSIiIjJqnEGZiIiIqoVaIxCfnoPs/AK42lshwMcJpiY1v+A2kx0iIiIyuB2nMzF3WzJybhdJZe5yK0SFKhHs516jsbAZi4iIiAxq8Y4UvLghQSvRAYDM3AJMXZeA2OTMGo2HyQ4REREZzI7TGfjsYHqF2wWA6JgUqDWixmJiskNEREQGodYIzN2WXGm9zNwCxKfn1EBEJZjsEBERkUHEp+cg5/Y9nepm5xdUczT/YrJDREREBqFPAuNqb1WNkWhjskNEREQGoWsC42xrgQAfp2qO5l9MdoiIiMggAnyc4C6vPOFZ8Jxfjc63w2SHiIiIDMLURIaoUCUelsZMDvTBgDacZ4eIiIjqqWA/d6wY1aHMEx4nW3MsH9EekQOUNR4TZ1AmIiIigwr2c0dfpaJOLBUBMNkhIiKiamBqIoPK17m2wwDAZiwiIiIyckx2iIiIyKjVmWTn7bffhkwmw4wZM6Synj17QiaTab2mTJmitd/ly5cREhICGxsbuLq6Yvbs2SguLq7h6ImIiKiuqhN9do4dO4bPPvsMbdq0KbNt4sSJmD9/vvTexsZG+lmtViMkJAQKhQJHjhxBZmYmxowZA3NzcyxatKhGYiciIqK6rdaf7Ny6dQsjR47E559/jkaNGpXZbmNjA4VCIb0cHBykbb/++itSUlKwbt06tGvXDv3798eCBQvw6aefoqioqMyxiIiIqOGp9WQnIiICISEh6NOnT7nb169fDxcXF/j5+SEyMhJ37tyRtsXFxcHf3x9ubm5SWVBQEPLy8nDmzJkKP7OwsBB5eXlaLyIiIjJOtdqMtXHjRiQkJODYsWPlbh8xYgS8vLzg4eGB06dPY86cOUhNTcWWLVsAAFlZWVqJDgDpfVZWVoWfu3jxYkRHRxvoLIiIiKguq7Vk58qVK5g+fTp27doFK6vy19GYNGmS9LO/vz/c3d3Ru3dvpKWlwdfXt8qfHRkZiVmzZknv8/Ly4OnpWeXjERERUd1Va81YJ06cQHZ2Njp06AAzMzOYmZnhwIEDWLZsGczMzKBWq8vs07lzZwDAhQsXAAAKhQLXrl3TqlP6XqFQVPjZlpaWcHBw0HoRERGRcaq1ZKd3795ISkpCYmKi9OrUqRNGjhyJxMREmJqaltknMTERAODuXrKAmEqlQlJSErKzs6U6u3btgoODA5TKml97g4iIiOqeWmvGsre3h5+fn1aZra0tnJ2d4efnh7S0NGzYsAEDBgyAs7MzTp8+jZkzZyIwMFAaot6vXz8olUqMHj0aS5YsQVZWFubOnYuIiAhYWlrWxmkRERFRHVMn5tkpj4WFBXbv3o0PP/wQt2/fhqenJ8LCwjB37lypjqmpKbZv346pU6dCpVLB1tYW4eHhWvPyEBERUcMmE0KI2g6ituXl5UEulyM3N5f9d4iIiOoJXb+/a32eHSIiIqLqxGSHiIiIjBqTHSIiIjJqTHaIiIjIqDHZISIiIqPGZIeIiIiMGpMdIiIiMmpMdoiIiMioMdkhIiIio1Znl4sgIiIiQK0RiE/PQXZ+AVztrRDg4wRTE1lth1WvMNkhIiKqo2KTMxEdk4LM3AKpzF1uhahQJYL93GsxsvqFzVhERER1UGxyJqauS9BKdAAgK7cAU9clIDY5s5Yiq3+Y7BAREdUxao1AdEwKylupu7QsOiYFak2DX8tbJ0x2iIiI6pj49JwyT3TuJwBk5hYgPj2n5oKqx5jsEBER1THZ+RUnOlWp19Ax2SEiIqpjXO2tDFqvoeNoLCIiolrwsCHlAT5OcJdbISu3oNx+OzIACnnJPlQ5JjtEREQ1rLIh5aYmMkSFKjF1XQJkgFbCUzrDTlSokvPt6IjNWERERDVI1yHlwX7uWDGqAxRy7aYqhdwKK0Z14Dw7euCTHSIiohpS2ZByGUqGlPdVKmBqIkOwnzv6KhWcQfkRMdkhIiKqIfoMKVf5OgMATE1k0s9UNWzGIiIiqiEcUl47mOwQERHVEA4prx1MdoiIiGpI6ZDyinrcyFAyKotDyg2LyQ4REVENKR1SDqBMwsMh5dWHyQ4REVEN4pDymsfRWERERDWMQ8prFpMdIiKiWsAh5TWHzVhERERk1JjsEBERkVFjskNERERGjX12iIiIdKTWCHYqroeY7BAREekgNjkT0TEpWmtbucutEBWq5HDxOo7NWERERJWITc7E1HUJZRbxzMotwNR1CYhNzqylyEgXTHaIiIgeQq0RiI5JgShnW2lZdEwK1JryalBdwGSHiIjoIeLTc8o80bmfAJCZW4D49JyaC4r0wmSHiIjoIbLzK050qlKPah6THSIioodwtbeqvJIe9ajmMdkhIiJ6iAAfJ7jLrcqsUl5KhpJRWQE+TjUZFumByQ4REdFDmJrIEBWqBIAyCU/p+6hQJefbqcOY7BAREVUi2M8dK0Z1gEKu3VSlkFthxagOnGenjuOkgkRERDoI9nNHX6WCMyjXQ0x2iIiowXjU5R5MTWRQ+TpXY4RUHepMM9bbb78NmUyGGTNmSGUFBQWIiIiAs7Mz7OzsEBYWhmvXrmntd/nyZYSEhMDGxgaurq6YPXs2iouLazh6IiKq62KTM/HUO3sx/PPfMX1jIoZ//jueemcvZz9uAOpEsnPs2DF89tlnaNOmjVb5zJkzERMTg++//x4HDhxARkYGBg8eLG1Xq9UICQlBUVERjhw5grVr12LNmjWYN29eTZ8CERHVYVzuoWGr9WTn1q1bGDlyJD7//HM0atRIKs/NzcWXX36J999/H7169ULHjh2xevVqHDlyBL///jsA4Ndff0VKSgrWrVuHdu3aoX///liwYAE+/fRTFBUV1dYpERFRHcLlHqjWk52IiAiEhISgT58+WuUnTpzAvXv3tMpbtmyJxx9/HHFxcQCAuLg4+Pv7w83NTaoTFBSEvLw8nDlzpmZOgIiI6jQu90C12kF548aNSEhIwLFjx8psy8rKgoWFBRwdHbXK3dzckJWVJdW5P9Ep3V66rSKFhYUoLCyU3ufl5VX1FIiIqI7jcg9Ua092rly5gunTp2P9+vWwsqrZKbYXL14MuVwuvTw9PWv084mIqOZwuQeqtWTnxIkTyM7ORocOHWBmZgYzMzMcOHAAy5Ytg5mZGdzc3FBUVISbN29q7Xft2jUoFAoAgEKhKDM6q/R9aZ3yREZGIjc3V3pduXLFsCdHRER1Bpd7oFpLdnr37o2kpCQkJiZKr06dOmHkyJHSz+bm5tizZ4+0T2pqKi5fvgyVSgUAUKlUSEpKQnZ2tlRn165dcHBwgFKprPCzLS0t4eDgoPUiIiLjxOUeqNb67Njb28PPz0+rzNbWFs7OzlL5hAkTMGvWLDg5OcHBwQEvvfQSVCoVunTpAgDo168flEolRo8ejSVLliArKwtz585FREQELC0ta/yciIiobipd7iE6JkWrs7JCboWoUCWXezBydXoG5Q8++AAmJiYICwtDYWEhgoKCsHz5cmm7qakptm/fjqlTp0KlUsHW1hbh4eGYP39+LUZNRER1EZd7aLhkQogGP7FAXl4e5HI5cnNz2aRFRERUT+j6/V3r8+wQERERVScmO0RERGTUmOwQERGRUWOyQ0REREaNyQ4REREZNSY7REREZNSY7BAREZFRY7JDRERERo3JDhERERk1JjtERERk1JjsEBERkVFjskNERERGjckOERERGTUmO0RERGTUmOwQERGRUWOyQ0REREaNyQ4REREZNSY7REREZNSY7BAREZFRY7JDRERERo3JDhERERm1R0p2CgoKDBUHERERUbXQO9nRaDRYsGABHnvsMdjZ2eHPP/8EALzxxhv48ssvDR4gERER0aPQO9l56623sGbNGixZsgQWFhZSuZ+fH7744guDBkdERET0qPROdr7++musWrUKI0eOhKmpqVTetm1bnDt3zqDBERERET0qvZOdq1evolmzZmXKNRoN7t27Z5CgiIiIiAxF72RHqVTi0KFDZcp/+OEHtG/f3iBBERERERmKmb47zJs3D+Hh4bh69So0Gg22bNmC1NRUfP3119i+fXt1xEhERERUZXo/2XnuuecQExOD3bt3w9bWFvPmzcPZs2cRExODvn37VkeMRERERFUmE0KI2g6ituXl5UEulyM3NxcODg61HQ4RERHpQNfvb72f7Bw7dgxHjx4tU3706FEcP35c38MRERERVSu9k52IiAhcuXKlTPnVq1cRERFhkKCIiIiIDEXvZCclJQUdOnQoU96+fXukpKQYJCgiIiIiQ9E72bG0tMS1a9fKlGdmZsLMTO/BXURERETVSu9kp1+/foiMjERubq5UdvPmTbz++uscjUVERER1jt6PYt59910EBgbCy8tLmkQwMTERbm5u+OabbwweIBERGZ5aIxCfnoPs/AK42lshwMcJpiay2g6LqFronew89thjOH36NNavX49Tp07B2toa48aNw/Dhw2Fubl4dMRIRkQHFJmciOiYFmbkFUpm73ApRoUoE+7nXYmRE1YPz7IDz7BBRwxGbnImp6xLw4B/+0mc6K0Z1YMJD9Yau3986Pdn56aef0L9/f5ibm+Onn356aN1nn31Wv0iJiKhGqDUC0TEpZRIdABAoSXiiY1LQV6lgkxYZFZ2SnYEDByIrKwuurq4YOHBghfVkMhnUarWhYiMiIgOKT8/Rarp6kACQmVuA+PQcqHyday4womqmU7Kj0WjK/ZmIiOqP7PyKE52q1COqL/Qaen7v3j307t0b58+fr654iIiomrjaWxm0HlF9oVeyY25ujtOnT1dXLEREVI0CfJzgLrdCRb1xZCgZlRXg41STYRFVO70nFRw1ahS+/PLL6oiFiIiqkamJDFGhSgAok/CUvo8KVbJzMhkdvZOd4uJirFixAp06dcLkyZMxa9YsrZc+VqxYgTZt2sDBwQEODg5QqVTYuXOntL1nz56QyWRarylTpmgd4/LlywgJCYGNjQ1cXV0xe/ZsFBcX63taREQNQrCfO1aM6gCFXLupSiG34rBzMlp6TyqYnJwsLQT6xx9/aG2TyfT730CTJk3w9ttvo3nz5hBCYO3atXjuuedw8uRJtG7dGgAwceJEzJ8/X9rHxsZG+lmtViMkJAQKhQJHjhxBZmYmxowZA3NzcyxatEjfUyMiahCC/dzRV6ngDMrUYNS5SQWdnJywdOlSTJgwAT179kS7du3w4Ycfllt3586deOaZZ5CRkQE3NzcAwMqVKzFnzhxcv34dFhYWOn0mJxUkIiKqf3T9/tarGeu7777DyJEj8Z///AcrV6585CDvp1arsXHjRty+fRsqlUoqX79+PVxcXODn54fIyEjcuXNH2hYXFwd/f38p0QGAoKAg5OXl4cyZMxV+VmFhIfLy8rReREREZJx0bsZasWIFIiIi0Lx5c1hbW2PLli1IS0vD0qVLHymApKQkqFQqFBQUwM7ODlu3boVSWdKBbsSIEfDy8oKHhwdOnz6NOXPmIDU1FVu2bAEAZGVlaSU6AKT3WVlZFX7m4sWLER0d/UhxExERUf2gczNW69atMXToUERFRQEA1q1bh8mTJ+P27duPFEBRUREuX76M3Nxc/PDDD/jiiy9w4MABKeG53969e9G7d29cuHABvr6+mDRpEi5duoRffvlFqnPnzh3Y2tpix44d6N+/f7mfWVhYiMLCQul9Xl4ePD092YxFRERUjxi8GevPP/9EeHi49H7EiBEoLi5GZmbmIwVqYWGBZs2aoWPHjli8eDHatm2Ljz76qNy6nTt3BgBcuHABAKBQKHDt2jWtOqXvFQpFhZ9paWkpjQArfREREZFx0jnZKSwshK2t7b87mpjAwsICd+/eNWhAGo1G66nL/RITEwEA7u4lQyNVKhWSkpKQnZ0t1dm1axccHBzKfTJEREREDY9eQ8/feOMNraHfRUVFWLhwIeRyuVT2/vvv63y8yMhI9O/fH48//jjy8/OxYcMG7N+/H7/88gvS0tKwYcMGDBgwAM7Ozjh9+jRmzpyJwMBAtGnTBgDQr18/KJVKjB49GkuWLEFWVhbmzp2LiIgIWFpa6nNqRER1jlojODycyAB0TnYCAwORmpqqVda1a1f8+eef0nt959nJzs7GmDFjkJmZCblcjjZt2uCXX35B3759ceXKFezevRsffvghbt++DU9PT4SFhWHu3LnS/qampti+fTumTp0KlUoFW1tbhIeHa83LQ0RUH8UmZyI6JkVrlXJ3uRWiQpWc+I9IT3Vunp3awHl2iKguiU3OxNR1CXjwj3Ppfyc50zFRiWqZZ4eIiKqXWiMQHZNSJtEBIJVFx6RArWnw/08l0hmTHSKiOkCtEYhLu4EPdqVqNV09SADIzC1AfHpOzQVHVM/pvTYWEREZVnn9cyqTna97XaKGjskOEVEtqqh/TmVc7a0qr0REAJjsEBHVmof1z6mIDIBCXjIMnYh0U6U+O4cOHcKoUaOgUqlw9epVAMA333yDw4cPGzQ4IiJjFp+eo1fTVelorKhQJefbIdKD3snO5s2bERQUBGtra5w8eVKa7Tg3NxeLFi0yeIBERMZK3343CrkVh50TVYHeyc5bb72FlStX4vPPP4e5ublU3q1bNyQkJBg0OCIiY6Zrv5tpTzfDtxO74PCcXkx0iKpA7z47qampCAwMLFMul8tx8+ZNQ8RERNQgBPg4wV1uhazcgnL77ZT2z5nZ9wk2WxE9Ar2f7CgUCmnV8fsdPnwYTZs2NUhQREQNgamJDFGhJYsWP5jKsH8OkeHonexMnDgR06dPx9GjRyGTyZCRkYH169fj1VdfxdSpU6sjRiIioxXs544VozpAIddu0mL/HCLD0bsZ67XXXoNGo0Hv3r1x584dBAYGwtLSEq+++ipeeuml6oiRiMioBfu5o69SwRXOiapJlRcCLSoqwoULF3Dr1i0olUrY2dkZOrYaw4VAiYiI6p9qXwjUwsICSqUSLVu2xO7du3H27NmqHoqIiIio2uid7AwdOhSffPIJAODu3bt48sknMXToULRp0wabN282eIBEREREj0LvZOfgwYPo3r07AGDr1q3QaDS4efMmli1bhrfeesvgARIRERE9Cr2TndzcXDg5lazJEhsbi7CwMNjY2CAkJATnz583eIBEREREj0LvZMfT0xNxcXG4ffs2YmNj0a9fPwDAP//8AysrrsJLREREdYveQ89nzJiBkSNHws7ODl5eXujZsyeAkuYtf39/Q8dHRERE9Ej0TnZefPFFBAQE4MqVK+jbty9MTEoeDjVt2pR9doiIiKjOqfI8OwBQuqtMVr8nvuI8O0RERPVPtc6z8/XXX8Pf3x/W1tawtrZGmzZt8M0331Q5WCIiIqLqoncz1vvvv4833ngD06ZNQ7du3QCULAI6ZcoU/P3335g5c6bBgyQiIiKqKr2bsXx8fBAdHY0xY8Zola9duxZvvvkm0tPTDRpgTWAzFhERUf1Tbc1YmZmZ6Nq1a5nyrl27IjMzU9/DEREREVUrvZOdZs2aYdOmTWXKv/vuOzRv3twgQREREREZit59dqKjozFs2DAcPHhQ6rPz22+/Yc+ePeUmQURERES1Se8nO2FhYTh69ChcXFzw448/4scff4SLiwvi4+MxaNCg6oiRiIiIqMoeaZ4dY8EOykRERPWPrt/fOjVj5eXl6fzBTBaIiIioLtEp2XF0dKx0lmQhBGQyGdRqtUECIyIiIjIEnZKdffv2VXccRERERNVCp2SnR48e1R0HERERUbXQeTTW+fPnMXz48HL77+Tm5mLEiBH4888/DRocERER0aPSOdlZunQpPD09y+2ALJfL4enpiaVLlxo0OCIiIqJHpXOyc+DAAfznP/+pcPvQoUOxd+9egwRFREREZCg6JzuXL1+Gq6trhdtdXFxw5coVgwRFREREZCg6JztyuRxpaWkVbr9w4QLn2CEiIqI6R+dkJzAwEB9//HGF25ctW4bu3bsbJCgiIiIiQ9E52YmMjMTOnTsxZMgQxMfHIzc3F7m5uTh69CjCwsLwyy+/IDIysjpjJSIiItKbzquet2/fHj/88APGjx+PrVu3am1zdnbGpk2b0KFDB4MHSERERPQodE52AOCZZ57BpUuXEBsbiwsXLkAIgSeeeAL9+vWDjY1NdcVIREREVGV6JTsAYG1tjUGDBlVHLEREREQGp3OfHSIiIqL6qFaTnRUrVqBNmzZwcHCAg4MDVCoVdu7cKW0vKChAREQEnJ2dYWdnh7CwMFy7dk3rGJcvX0ZISAhsbGzg6uqK2bNno7i4uKZPhYiIiOqoWk12mjRpgrfffhsnTpzA8ePH0atXLzz33HM4c+YMAGDmzJmIiYnB999/jwMHDiAjIwODBw+W9ler1QgJCUFRURGOHDmCtWvXYs2aNZg3b15tnRIRERHVMTIhhKjtIO7n5OSEpUuXYsiQIWjcuDE2bNiAIUOGAADOnTuHVq1aIS4uDl26dMHOnTvxzDPPICMjA25ubgCAlStXYs6cObh+/TosLCx0+sy8vDzI5XLk5uZyYkQiIqJ6Qtfvb52e7OTl5en8qiq1Wo2NGzfi9u3bUKlUOHHiBO7du4c+ffpIdVq2bInHH38ccXFxAIC4uDj4+/tLiQ4ABAUFIS8vT3o6VJ7CwkKDxU1ERER1m06jsRwdHSGTyXQ6oFqt1iuApKQkqFQqFBQUwM7ODlu3boVSqURiYiIsLCzg6OioVd/NzQ1ZWVkAgKysLK1Ep3R76baKLF68GNHR0XrFSURERPWTTsnOvn37pJ8vXryI1157DWPHjoVKpQJQ8oRl7dq1WLx4sd4BtGjRAomJicjNzcUPP/yA8PBwHDhwQO/j6CMyMhKzZs2S3ufl5cHT07NaP5OIiIhqh07JTo8ePaSf58+fj/fffx/Dhw+Xyp599ln4+/tj1apVCA8P1ysACwsLNGvWDADQsWNHHDt2DB999BGGDRuGoqIi3Lx5U+vpzrVr16BQKAAACoUC8fHxWscrHa1VWqc8lpaWsLS01CtOIiIiqp/0Ho0VFxeHTp06lSnv1KlTmcSjKjQaDQoLC9GxY0eYm5tjz5490rbU1FRcvnxZeqKkUqmQlJSE7Oxsqc6uXbvg4OAApVL5yLEQERFR/af3DMqenp74/PPPsWTJEq3yL774Qu+moMjISPTv3x+PP/448vPzsWHDBuzfvx+//PIL5HI5JkyYgFmzZsHJyQkODg546aWXoFKp0KVLFwBAv379oFQqMXr0aCxZsgRZWVmYO3cuIiIi+OSGiIiIAFQh2fnggw8QFhaGnTt3onPnzgCA+Ph4nD9/Hps3b9brWNnZ2RgzZgwyMzMhl8vRpk0b/PLLL+jbt6/0WSYmJggLC0NhYSGCgoKwfPlyaX9TU1Ns374dU6dOhUqlgq2tLcLDwzF//nx9T4uIiIiMVJXm2bly5QpWrFiBc+fOAQBatWqFKVOm1NtOvpxnh4iIqP7R9fu7zk0qWBuY7BAREdU/Bp1U8EGHDh3CqFGj0LVrV1y9ehUA8M033+Dw4cNVi5aIjJZaIxCXdgPbEq8iLu0G1JoG//8rIqphevfZ2bx5M0aPHo2RI0ciISEBhYWFAIDc3FwsWrQIO3bsMHiQRFQ/xSZnIjomBZm5BVKZu9wKUaFKBPu512JkRNSQ6P1k56233sLKlSvx+eefw9zcXCrv1q0bEhISDBocEdVfscmZmLouQSvRAYCs3AJMXZeA2OTMWoqMiBoavZOd1NRUBAYGlimXy+W4efOmIWIionpOrRGIjklBeQ1WpWXRMSls0iKiGqF3sqNQKHDhwoUy5YcPH0bTpk0NEhQR1W/x6TllnujcTwDIzC1AfHpOzQVFRA2W3snOxIkTMX36dBw9ehQymQwZGRlYv349Xn31VUydOrU6YiSieiY7v+JEpyr1iIgehd4dlF977TVoNBr07t0bd+7cQWBgICwtLfHqq6/ipZdeqo4YiaiecbW3Mmg9IqJHUeV5doqKinDhwgXcunULSqUSdnZ2ho6txnCeHSLDUmsEnnpnL7JyC8rttyMDoJBb4fCcXjA1kdV0eERkJKptnp3x48cjPz8fFhYWUCqVCAgIgJ2dHW7fvo3x48c/UtBEZBxMTWSICi1ZjPfBVKb0fVSokokOEdUIvZOdtWvX4u7du2XK7969i6+//togQRFR/Rfs544VozpAIdduqlLIrbBiVAfOs0NENUbnPjt5eXkQQkAIgfz8fFhZ/fsHTK1WY8eOHXB1da2WIImofgr2c0dfpQLx6TnIzi+Aq70VAnyc+ESHiGqUzsmOo6MjZDIZZDIZnnjiiTLbZTIZoqOjDRocEdV/piYyqHydazsMImrAdE529u3bByEEevXqhc2bN8PJyUnaZmFhAS8vL3h4eFRLkERERERVpXOy06NHDwBAeno6Hn/8cchkfAxNREREdZ/eHZT37t2LH374oUz5999/j7Vr1xokKCIiIiJD0TvZWbx4MVxcXMqUu7q6YtGiRQYJioiIiMhQ9E52Ll++DB8fnzLlXl5euHz5skGCIiIiIjIUvZMdV1dXnD59ukz5qVOn4OzMERdERERUt+id7AwfPhwvv/wy9u3bB7VaDbVajb1792L69Ol4/vnnqyNGIiIioirTeyHQBQsW4OLFi+jduzfMzEp212g0GDNmDPvsEBERUZ1T5YVA//jjD5w6dQrW1tbw9/eHl5eXoWOrMVwIlIiIqP7R9ftb7yc7pZ544olyZ1ImorpNrRFcvoGIGhSdkp1Zs2ZhwYIFsLW1xaxZsx5a9/333zdIYERkeLHJmYiOSUFmboFU5i63QlSokgtzEpHR0inZOXnyJO7duyf9XBHOqkxUd8UmZ2LqugQ82G6dlVuAqesSuBI5ERmtKvfZMSbss0PGTq0ReOqdvVpPdO4nA6CQW+HwnF5s0iKiekPX72+9h54TUf0Tn55TYaIDAAJAZm4B4tNzai4oIqIaolMz1uDBg3U+4JYtW6ocDBFVj+z8ihOdqtQjIqpPdHqyI5fLpZeDgwP27NmD48ePS9tPnDiBPXv2QC6XV1ugRFR1rvZWBq1HRFSf6PRkZ/Xq1dLPc+bMwdChQ7Fy5UqYmpoCANRqNV588UX2dyGqRQ8bUh7g4wR3uRWycgvKdFAG/u2zE+DjVKMxExHVBL07KDdu3BiHDx9GixYttMpTU1PRtWtX3Lhxw6AB1gR2UKb6bsfpTMzdloyc20VS2YNDyktHYwHQSnhKuyNzNBYR1TfV1kG5uLgY586dK1N+7tw5aDQafQ9HRI9o8Y4UvLghQSvRAUo6HE9dl4DY5EwAQLCfO1aM6gCFXLupSiG3YqJDREZN7xmUx40bhwkTJiAtLQ0BAQEAgKNHj+Ltt9/GuHHjDB4gEVVsx+kMfHYwvcLtAkB0TAr6KhUwNZEh2M8dfZUKzqBMRA2K3snOu+++C4VCgffeew+ZmSX/Y3R3d8fs2bPxyiuvGDxAIiqfWiMwd1typfVKh5SrfJ0BAKYmMulnIqKGQO9kx8TEBP/973/x3//+F3l5eQDAfi5EtSA+PQc5t+/pVJdDyomoIavSQqDFxcXYv38/0tLSMGLECABARkYGHBwcYGdnZ9AAiajEg6OtsnLv6rwvh5QTUUOmd7Jz6dIlBAcH4/LlyygsLETfvn1hb2+Pd955B4WFhVi5cmV1xEnUoJW3gKeTrYVO+zrbWnBIORE1aHqPxpo+fTo6deqEf/75B9bW1lL5oEGDsGfPHoMGR0T/Dhl/cLmHfx4YfVWRBc/5sQMyETVoej/ZOXToEI4cOQILC+3/VXp7e+Pq1asGC4yISpquomNSyp0IUJcJsiYH+mBAGw4pJ6KGTe9kR6PRQK1Wlyn/66+/YG9vb5CgiKhEZQt4lnKyNdfqrOxka463nvPDgDYe1RkeEVG9oHey069fP3z44YdYtWoVAEAmk+HWrVuIiorCgAEDDB4gUUOm6yiqN55pDYWDFefOISIqR5Xm2QkODoZSqURBQQFGjBiB8+fPw8XFBd9++211xEjUYOk6ikrhYMW5c4iIKqB3suPp6YlTp07hu+++w6lTp3Dr1i1MmDABI0eO1OqwTESPjgt4EhE9Or1GY927dw++vr44f/48Ro4ciSVLlmD58uV44YUXqpToLF68GE8++STs7e3h6uqKgQMHIjU1VatOz549IZPJtF5TpkzRqnP58mWEhITAxsYGrq6umD17NoqLi/WOh6g2qDUCcWk3sC3xKuLSbkCt+TetMTWRISpUCeDfBTtLlb6PClWyyYqI6CH0erJjbm6OggLDzcR64MABRERE4Mknn0RxcTFef/119OvXDykpKbC1tZXqTZw4EfPnz5fe29jYSD+r1WqEhIRAoVDgyJEjyMzMxJgxY2Bubo5FixYZLFYiQ1NrBD7ZewGrf0vHzbv/di5+cLXy0gU8H5xnR/FAPSIiKp9MCKHLCFbJokWL8Mcff+CLL76AmVmVJmCu0PXr1+Hq6ooDBw4gMDAQQMmTnXbt2uHDDz8sd5+dO3fimWeeQUZGBtzc3AAAK1euxJw5c3D9+vUyQ+TLo+sS8USGEpucide2JOHmnbLLPZQ+o3lwJfIHZ1BmJ2Qiauh0/f7WO1s5duwY9uzZg19//RX+/v5aT2AAYMuWLfpH+/9yc3MBAE5O2v0P1q9fj3Xr1kGhUCA0NBRvvPGG9HQnLi4O/v7+UqIDAEFBQZg6dSrOnDmD9u3bVzkeouoQm5yJKesSKtwuUJLw3L9aOcAFPImIqkrvZMfR0RFhYWEGD0Sj0WDGjBno1q0b/Pz8pPIRI0bAy8sLHh4eOH36NObMmYPU1FQpqcrKytJKdABI77Oyssr9rMLCQhQWFkrvSxc0JapuRcUavL618pXKBcquVk5ERFWjd7KzevXq6ogDERERSE5OxuHDh7XKJ02aJP3s7+8Pd3d39O7dG2lpafD19a3SZy1evBjR0dGPFC+RvmKTM/H61iSdVyoHuFo5EZEh6DwaS6PR4J133kG3bt3w5JNP4rXXXsPdu7qvuvww06ZNw/bt27Fv3z40adLkoXU7d+4MALhw4QIAQKFQ4Nq1a1p1St8rFIpyjxEZGYnc3FzpdeXKlUc9BaIKqTUCH+0+jynrEvRKdACuVk5EZAg6JzsLFy7E66+/Djs7Ozz22GP46KOPEBER8UgfLoTAtGnTsHXrVuzduxc+Pj6V7pOYmAgAcHcv6bipUqmQlJSE7Oxsqc6uXbvg4OAApVJZ7jEsLS3h4OCg9SKqDrHJmej29h58sPsPvfd15/w5REQGofNorObNm+PVV1/F5MmTAQC7d+9GSEgI7t69CxMTvRdPBwC8+OKL2LBhA7Zt24YWLVpI5XK5HNbW1khLS8OGDRswYMAAODs74/Tp05g5cyaaNGmCAwcOACgZet6uXTt4eHhgyZIlyMrKwujRo/HCCy/oPPSco7GoOpSuVq7XcMf/J0PZ0VhERKRN1+9vnZMdS0tLXLhwAZ6enlKZlZUVLly4UGnTU4UfLit/2Ozq1asxduxYXLlyBaNGjUJycjJu374NT09PDBo0CHPnztU6qUuXLmHq1KnYv38/bG1tER4ejrffflvnofFMdsjQ1BqBp97Zq9Ming9qZGOOxYP9megQEVXC4EPPi4uLYWWl3X/A3Nwc9+7p1wfhfpXlWZ6entITnIfx8vLCjh07qhwHkSHcPw/O3/mFeic6dpammNi9Kab1as75c4iIDEjnZEcIgbFjx8LS0lIqKygowJQpU7Tm2nmUeXaI6qOSmZDPY/VvF7VmQtaHk605fo/sAwuzqjUJExFRxXROdsLDw8uUjRo1yqDBENU3D5sJWVcyAIsG+TPRISKqJjonO9U1vw5RffUoHZBLPbgOFhERGZ5hF7ciaiDUGoHomJRHSnRm9mnO/jlERDWAyQ5RFcSn51RppBXApzlERDWNyQ5RFei7jMMbIa3gYm/J1cqJiGoBkx2iKtBnGQd3uRXGdvNhgkNEVEs4/IOoCgJ8nOAut4Iu6UtUqJKJDhFRLWKyQ1SBomINvjz0J+ZtS8aXh/5EUbFG2mZqIkNUaMnaaxWlMY425ljJJR+IiGqdzstFGDMuF0EPWrwjBZ8fSofmvn8dJjJgYncfRA74d4HZ2ORMRMekaHVWdrQxx7iuPpjWqxmf6BARVSODLxdB1BAUFWsw5quj+P3PnDLbNAL47GA6AEgJT7CfO/oqFdIyEeyATERU9zDZIfp/5T3NKc/nh9LxSr+W0ozHpiYyqHydayBCIiKqCvbZIUJJovPZwcoTHaDkCc83cRerPSYiIjIMJjvU4BUVa/D5oXS99rmUc6eaoiEiIkNjskMN3jdxF3V6onM/Lyeb6gmGiIgMjskONXj6PqUxkQGjVd7VEwwRERkckx1q8PR9SjOxu4/UOZmIiOo+/sWmBm+0yhu6jBSXAZgcqD3PDhER1X0cek4NglojKpwLx8LMBBO7+0hz6JRH5eOMtRMC+ESHiKgeYrJDRq+8WY7d5VaIClVKSzmUPq3RZdZkIiKqX7hcBLhchDEqfZKzKyULX/12scz20larFQ+sXVVUrME3cRdxKecOvJxsMFrlzac5RER1FJeLoAarvCc5DxIoSXiiY1LQV6nQatKa0L1pzQRKREQ1gv9lJaMSm5yJqesSHprolBIAMnMLEJ9edh0sIiIyHkx2yGioNQLRMSnQt102O7/yxIiIiOovJjtkFNQagTW/pev0ROdBrvZW1RARERHVFeyzQ/WeLn10yiMDoJCXDEMnIiLjxWSH6rXSPjr6Nl2VjsaKClVKnZOJiMg4MdmhequqfXSAkic698+zQ0RExovJDtVb8ek5ejddTejmjT5KhdYMykREZNyY7FC9pc8oqgdnTCYiooaDyQ7VW7qOonojpBXGdvPhkxwiogaKQ8+p3grwcYK73AoVpTAylDzRYaJDRNSwMdmhOkmtETj0x3XM2HgSk74+hs8P/omiYo1WHVMTGaJCSxbofDCV4WgrIiIqxYVAwYVA65rY5EzM2nQKd4rUWuUyGTCpnBXIdVnVnIiIjA8XAqV6KTY5E1PWJZS7TQjgs4PpAKCV8AT7uaOvUoH49Bxk5xfA1d6Ko62IiEjCZIfqDLVGIGrbmUrrfX4oHa/0awkLs39bYU1NZFD5OldneEREVE+xzw7VGfHpObiWX1hpPY0Avom7WP0BERGRUWCyQ3WGPvPmXMq5U42REBGRMWGyQ3WGPquPeznZVGMkRERkTJjsUJ0R4OMEN3vLSuuZyIDRKu/qD4iIiIwCkx2qM0xNZIh+rnWl9SZ299HqnExERPQw/MagOiXYzx0rR3WAjYVpmW0yGTA5sOw8O0RERA/DoedU55TOm3Pkwt/YnPAX7hQV40lvZ4R39eYTHSIi0huTHapWao2o0mR/piYydH+iMbo/0bgGoiQiImNWq/9NXrx4MZ588knY29vD1dUVAwcORGpqqladgoICREREwNnZGXZ2dggLC8O1a9e06ly+fBkhISGwsbGBq6srZs+ejeLi4po8FSrH9sQMtJv/K4Z//jumb0zE8M9/x1Pv7EVscmZth0ZERA1IrSY7Bw4cQEREBH7//Xfs2rUL9+7dQ79+/XD79m2pzsyZMxETE4Pvv/8eBw4cQEZGBgYPHixtV6vVCAkJQVFREY4cOYK1a9dizZo1mDdvXm2cEv2/iV8fw7SNJ5FfoJ10ZuYWYOq6BCY8RERUY+rUQqDXr1+Hq6srDhw4gMDAQOTm5qJx48bYsGEDhgwZAgA4d+4cWrVqhbi4OHTp0gU7d+7EM888g4yMDLi5uQEAVq5ciTlz5uD69euwsLCo9HO5EKjhqDUCL3+bgJ+Tsh5az11uhcNzenH9KiIiqjJdv7/rVG/P3NxcAICTkxMA4MSJE7h37x769Okj1WnZsiUef/xxxMXFAQDi4uLg7+8vJToAEBQUhLy8PJw5U/46S4WFhcjLy9N60aOLTc5Et7f3VproACVPeOLTc2ogKiIiaujqTLKj0WgwY8YMdOvWDX5+fgCArKwsWFhYwNHRUauum5sbsrKypDr3Jzql20u3lWfx4sWQy+XSy9PT08Bn0/DEJmdi6roEZOXpvuSDPstDEBERVVWdSXYiIiKQnJyMjRs3VvtnRUZGIjc3V3pduXKl2j/TWKk1Ar+d/xuvbU6Cvu2h+iwPQUREVFV1Yuj5tGnTsH37dhw8eBBNmjSRyhUKBYqKinDz5k2tpzvXrl2DQqGQ6sTHx2sdr3S0VmmdB1laWsLSsvJlCejhYpMzER2Tgsxc/Z/QOFiZIcDHqRqiIiIi0larT3aEEJg2bRq2bt2KvXv3wsfHR2t7x44dYW5ujj179khlqampuHz5MlQqFQBApVIhKSkJ2dnZUp1du3bBwcEBSiVn2q0upc1WVUl0AGDRQH92TiYiohpRq092IiIisGHDBmzbtg329vZSHxu5XA5ra2vI5XJMmDABs2bNgpOTExwcHPDSSy9BpVKhS5cuAIB+/fpBqVRi9OjRWLJkCbKysjB37lxERETw6U01UWsEomNS9G62KtVX6Ypn2nkYNCYiIqKK1Gqys2LFCgBAz549tcpXr16NsWPHAgA++OADmJiYICwsDIWFhQgKCsLy5culuqampti+fTumTp0KlUoFW1tbhIeHY/78+TV1Gg1OfHpOlZ/oTOzug/+F8IkbERHVnDo1z05t4Tw7+tmWeBXTNybqtc+QDo9h0eA2XNuKiIgMRtfv7zrRQZnqF31GUbnLrRAVqkSwn3s1RkRERFQxJjuktwAfJ7jLrZCVW1Bhvx1Ha3N8OrIDujR1ZkdkIiKqVWxTIL2ZmsgQFVrS7+bBNEb2/6+3w/zRrZkLEx0iIqp1THaoSoL93LFiVAco5NpNWgq5FVaM6sBmKyIiqjPYjEVVFuznjr5KBeLTc5CdXwBXeysE+DjxaQ4REdUpTHbokZiayKDyda7tMIiIiCrEZiwiIiIyakx2iIiIyKgx2SEiIiKjxj47DYhaI9iZmIiIGhwmOw1EbHImomNStNa04uzGRETUELAZqwGITc7E1HUJZRbvzMotwNR1CYhNzqylyIiIiKofkx0jptYI/Hbhb7y2OancZR1Ky6JjUqDWNPj1YImIyEixGctI7Tidgf9tTcY/d+89tJ4AkJlbgPj0HM6XQ0RERonJjhFa+PMZfH7ool77ZOcXVF6JiIioHmKyY0SKijUY8+VR/J6eo/e+rvZWlVciIiKqh5jsGImFP6fg80Ppeu8nQ8ninQE+ToYPioiIqA5gsmMEJqyJx55z1/Xer3SGnahQJefbISIio8Vkp54bv/p37E29UaV9FZxnh4iIGgAmO/XYC2uPVTnRGdXZE9HP+fOJDhERGT0mO/WQWiPw0e4/sPtsdpWPMS/Uj4kOERE1CEx26pnY5Ey8+dMZZOUVVvkYkwN9YGHG+SSJiKhhYLJTj5Qu+/Aocx1PDvRB5AClwWIiIiKq65js1BNqjUB0TEqVE51B7TzwzpC2fKJDREQNDpOdeiI+PafMQp66mtjdB/8L4dMcIiJqmJjs1BNVXc6BzVZERNTQMdmpJ/RdzuEJVztsf7k7m62IiKjBY7JTTwT4OMFdboWs3IKH9ttxsDLDwkH+CG3rUWOxERER1WX8b389YWoiQ1RoSXNURbPjzOzTHCfn9WOiQ0REdB8mO/VIsJ87VozqAIVcu0nLXW6FlaM6YHqfJzhRIBER0QPYjFXPBPu5o69Sgfj0HGTnF8DVvmTFciY5RERE5WOyUw+Zmsig8nWu7TCIiIjqBTZjERERkVFjskNERERGjckOERERGTUmO0RERGTUmOwQERGRUeNorGqi1ggODyciIqoDmOxUg9jkTETHpGitUu4ut0JUqBLBfu61GBkREVHDw2YsA4tNzsTUdQlaiQ4AZOUWYOq6BMQmZ9ZSZERERA0Tkx0DUmsEomNSyl2os7QsOiYFas3DlvIkIiIiQ2KyY0Dx6TllnujcTwDIzC1AfHpOzQVFRETUwDHZMaDs/IoTnarUIyIiokfHZMeAXO2tKq+kRz0iIiJ6dLWa7Bw8eBChoaHw8PCATCbDjz/+qLV97NixkMlkWq/g4GCtOjk5ORg5ciQcHBzg6OiICRMm4NatWzV4Fv8K8HGCu9wKFQ0wl6FkVFaAj1NNhkVERNSg1Wqyc/v2bbRt2xaffvpphXWCg4ORmZkpvb799lut7SNHjsSZM2ewa9cubN++HQcPHsSkSZOqO/RymZrIEBWqBIAyCU/p+6hQJefbISIiqkG1Os9O//790b9//4fWsbS0hEKhKHfb2bNnERsbi2PHjqFTp04AgI8//hgDBgzAu+++Cw8PD4PHXJlgP3esGNWhzDw7Cs6zQ0REVCvq/KSC+/fvh6urKxo1aoRevXrhrbfegrOzMwAgLi4Ojo6OUqIDAH369IGJiQmOHj2KQYMGlXvMwsJCFBYWSu/z8vIMGnOwnzv6KhWcQZmIiKgOqNPJTnBwMAYPHgwfHx+kpaXh9ddfR//+/REXFwdTU1NkZWXB1dVVax8zMzM4OTkhKyurwuMuXrwY0dHR1Rq7qYkMKl/nav0MIiIiqlydTnaef/556Wd/f3+0adMGvr6+2L9/P3r37l3l40ZGRmLWrFnS+7y8PHh6ej5SrERERFQ31auh502bNoWLiwsuXLgAAFAoFMjOztaqU1xcjJycnAr7+QAl/YAcHBy0XkRERGSc6lWy89dff+HGjRtwdy/p5KtSqXDz5k2cOHFCqrN3715oNBp07ty5tsIkIiKiOqRWm7Fu3bolPaUBgPT0dCQmJsLJyQlOTk6Ijo5GWFgYFAoF0tLS8N///hfNmjVDUFAQAKBVq1YIDg7GxIkTsXLlSty7dw/Tpk3D888/XysjsYiIiKjukQkham1Vyv379+Ppp58uUx4eHo4VK1Zg4MCBOHnyJG7evAkPDw/069cPCxYsgJubm1Q3JycH06ZNQ0xMDExMTBAWFoZly5bBzs5O5zjy8vIgl8uRm5vLJi0iIqJ6Qtfv71pNduoKJjtERET1j67f3/Wqzw4RERGRvpjsEBERkVFjskNERERGrU5PKlhTSrstGXrZCCIiIqo+pd/blXU/ZrIDID8/HwA4izIREVE9lJ+fD7lcXuF2jsYCoNFokJGRAXt7e8hkui/WWbrMxJUrVziK6yF4nSrHa1Q5XqPK8RrphtepcvXlGgkhkJ+fDw8PD5iYVNwzh092AJiYmKBJkyZV3p9LTuiG16lyvEaV4zWqHK+RbnidKlcfrtHDnuiUYgdlIiIiMmpMdoiIiMioMdl5BJaWloiKioKlpWVth1Kn8TpVjteocrxGleM10g2vU+WM7RqxgzIREREZNT7ZISIiIqPGZIeIiIiMGpMdIiIiMmpMdoiIiMioMdkpx8GDBxEaGgoPDw/IZDL8+OOPWtvHjh0LmUym9QoODtaqk5OTg5EjR8LBwQGOjo6YMGECbt26VYNnUX0WL16MJ598Evb29nB1dcXAgQORmpqqVaegoAARERFwdnaGnZ0dwsLCcO3aNa06ly9fRkhICGxsbODq6orZs2ejuLi4Jk+lWulynXr27FnmXpoyZYpWHWO+TitWrECbNm2kictUKhV27twpbed9VPk1auj3UHnefvttyGQyzJgxQyrjvVRWedfJaO8nQWXs2LFD/O9//xNbtmwRAMTWrVu1toeHh4vg4GCRmZkpvXJycrTqBAcHi7Zt24rff/9dHDp0SDRr1kwMHz68Bs+i+gQFBYnVq1eL5ORkkZiYKAYMGCAef/xxcevWLanOlClThKenp9izZ484fvy46NKli+jatau0vbi4WPj5+Yk+ffqIkydPih07dggXFxcRGRlZG6dULXS5Tj169BATJ07Uupdyc3Ol7cZ+nX766Sfx888/iz/++EOkpqaK119/XZibm4vk5GQhBO8jISq/Rg39HnpQfHy88Pb2Fm3atBHTp0+XynkvaavoOhnr/cRkpxIVJTvPPfdchfukpKQIAOLYsWNS2c6dO4VMJhNXr16tpkhrT3Z2tgAgDhw4IIQQ4ubNm8Lc3Fx8//33Up2zZ88KACIuLk4IUZJQmpiYiKysLKnOihUrhIODgygsLKzZE6ghD14nIUr+sNz/h+ZBDfE6NWrUSHzxxRe8jx6i9BoJwXvofvn5+aJ58+Zi165dWteF95K2iq6TEMZ7P7EZq4r2798PV1dXtGjRAlOnTsWNGzekbXFxcXB0dESnTp2ksj59+sDExARHjx6tjXCrVW5uLgDAyckJAHDixAncu3cPffr0keq0bNkSjz/+OOLi4gCUXCN/f3+4ublJdYKCgpCXl4czZ87UYPQ158HrVGr9+vVwcXGBn58fIiMjcefOHWlbQ7pOarUaGzduxO3bt6FSqXgflePBa1SK91CJiIgIhISEaN0zAP8mPaii61TKGO8nLgRaBcHBwRg8eDB8fHyQlpaG119/Hf3790dcXBxMTU2RlZUFV1dXrX3MzMzg5OSErKysWoq6emg0GsyYMQPdunWDn58fACArKwsWFhZwdHTUquvm5iadf1ZWltY/ltLtpduMTXnXCQBGjBgBLy8veHh44PTp05gzZw5SU1OxZcsWAA3jOiUlJUGlUqGgoAB2dnbYunUrlEolEhMTeR/9v4quEcB7qNTGjRuRkJCAY8eOldnGv0n/eth1Aoz3fmKyUwXPP/+89LO/vz/atGkDX19f7N+/H717967FyGpeREQEkpOTcfjw4doOpU6r6DpNmjRJ+tnf3x/u7u7o3bs30tLS4OvrW9Nh1ooWLVogMTERubm5+OGHHxAeHo4DBw7Udlh1SkXXSKlU8h4CcOXKFUyfPh27du2ClZVVbYdTZ+lynYz1fmIzlgE0bdoULi4uuHDhAgBAoVAgOztbq05xcTFycnKgUChqI8RqMW3aNGzfvh379u1DkyZNpHKFQoGioiLcvHlTq/61a9ek81coFGVGQpS+N6ZrBFR8ncrTuXNnANC6l4z9OllYWKBZs2bo2LEjFi9ejLZt2+Kjjz7ifXSfiq5ReRriPXTixAlkZ2ejQ4cOMDMzg5mZGQ4cOIBly5bBzMwMbm5uvJdQ+XVSq9Vl9jGW+4nJjgH89ddfuHHjBtzd3QEAKpUKN2/exIkTJ6Q6e/fuhUajkW6c+kwIgWnTpmHr1q3Yu3cvfHx8tLZ37NgR5ubm2LNnj1SWmpqKy5cvS/0MVCoVkpKStJLCXbt2wcHBQXo8X99Vdp3Kk5iYCABa95KxX6cHaTQaFBYW8j56iNJrVJ6GeA/17t0bSUlJSExMlF6dOnXCyJEjpZ95L1V+nUxNTcvsYzT3U233kK6L8vPzxcmTJ8XJkycFAPH++++LkydPikuXLon8/Hzx6quviri4OJGeni52794tOnToIJo3by4KCgqkYwQHB4v27duLo0ePisOHD4vmzZsbzdDzqVOnCrlcLvbv3681PPHOnTtSnSlTpojHH39c7N27Vxw/flyoVCqhUqmk7aXDF/v16ycSExNFbGysaNy4cZ0fvqiPyq7ThQsXxPz588Xx48dFenq62LZtm2jatKkIDAyUjmHs1+m1114TBw4cEOnp6eL06dPitddeEzKZTPz6669CCN5HQjz8GvEeqtiDo4p4L5Xv/utkzPcTk51y7Nu3TwAo8woPDxd37twR/fr1E40bNxbm5ubCy8tLTJw4UWsYnhBC3LhxQwwfPlzY2dkJBwcHMW7cOJGfn19LZ2RY5V0bAGL16tVSnbt374oXX3xRNGrUSNjY2IhBgwaJzMxMreNcvHhR9O/fX1hbWwsXFxfxyiuviHv37tXw2VSfyq7T5cuXRWBgoHBychKWlpaiWbNmYvbs2VpzWghh3Ndp/PjxwsvLS1hYWIjGjRuL3r17S4mOELyPhHj4NeI9VLEHkx3eS+W7/zoZ8/0kE0KImn6aRERERFRT2GeHiIiIjBqTHSIiIjJqTHaIiIjIqDHZISIiIqPGZIeIiIiMGpMdIiIiMmpMdoiIiMioMdkhojpFJpPhxx9/rDPHqWk9e/bEjBkzajsMIqPCZIeogYqLi4OpqSlCQkL03tfb2xsffvih4YPSUVZWFl566SU0bdoUlpaW8PT0RGhoqNbaR7XtzTffhEwmg0wmg5mZGby9vTFz5kzcunXroftt2bIFCxYsqKEoiRoGs9oOgIhqx5dffomXXnoJX375JTIyMuDh4VHbIenk4sWL6NatGxwdHbF06VL4+/vj3r17+OWXXxAREYFz587VdoiS1q1bY/fu3SguLsZvv/2G8ePH486dO/jss8/K1C0qKoKFhQWcnJxqIVIi48YnO0QN0K1bt/Ddd99h6tSpCAkJwZo1a8rUiYmJwZNPPgkrKyu4uLhg0KBBAEqaWS5duoSZM2dKTy6AkicZ7dq10zrGhx9+CG9vb+n9sWPH0LdvX7i4uEAul6NHjx5ISEjQK/YXX3wRMpkM8fHxCAsLwxNPPIHWrVtj1qxZ+P333yvcLykpCb169YK1tTWcnZ0xadIkracs+/fvR0BAAGxtbeHo6Ihu3brh0qVL0vZt27ahQ4cOsLKyQtOmTREdHY3i4uKHxmpmZgaFQoEmTZpg2LBhGDlyJH766ScA/16vL774Aj4+PrCysgJQthmrsLAQc+bMgaenJywtLdGsWTN8+eWX0vbk5GT0798fdnZ2cHNzw+jRo/H333/rdU2JjB2THaIGaNOmTWjZsiVatGiBUaNG4auvvsL9y+T9/PPPGDRoEAYMGICTJ09iz549CAgIAFDSzNKkSRPMnz8fmZmZyMzM1Plz8/PzER4ejsOHD+P3339H8+bNMWDAAOTn5+u0f05ODmJjYxEREQFbW9sy2x0dHcvd7/bt2wgKCkKjRo1w7NgxfP/999i9ezemTZsGACguLsbAgQPRo0cPnD59GnFxcZg0aZKUyB06dAhjxozB9OnTkZKSgs8++wxr1qzBwoULdT53ALC2tkZRUZH0/sKFC9i8eTO2bNmCxMTEcvcZM2YMvv32Wyxbtgxnz57FZ599Bjs7OwDAzZs30atXL7Rv3x7Hjx9HbGwsrl27hqFDh+oVF5HRq+WFSImoFnTt2lV8+OGHQggh7t27J1xcXMS+ffuk7SqVSowcObLC/b28vMQHH3ygVRYVFSXatm2rVfbBBx8ILy+vCo+jVquFvb29iImJkcoAiK1bt5Zb/+jRowKA2LJlS4XHLO84q1atEo0aNRK3bt2Stv/888/CxMREZGVliRs3bggAYv/+/eUeq3fv3mLRokVaZd98841wd3ev8PMfvB7Hjx8XLi4uYsiQIdJ2c3NzkZ2drbXf/atQp6amCgBi165d5X7GggULRL9+/bTKrly5IgCI1NTUCmMjamj4ZIeogUlNTUV8fDyGDx8OoKSpZdiwYVpNI4mJiejdu7fBP/vatWuYOHEimjdvDrlcDgcHB9y6dQuXL1/WaX9x39MnfZw9exZt27bVehrUrVs3aDQapKamwsnJCWPHjkVQUBBCQ0Px0UcfaT2xOnXqFObPnw87OzvpNXHiRGRmZuLOnTsVfm5SUhLs7OxgbW2NgIAAqFQqfPLJJ9J2Ly8vNG7cuML9ExMTYWpqih49epS7/dSpU9i3b59WXC1btgQApKWl6Xx9iIwdOygTNTBffvkliouLtTokCyFgaWmJTz75BHK5HNbW1nof18TEpEwycu/ePa334eHhuHHjBj766CN4eXnB0tISKpVKq2nnYZo3bw6ZTFYtnZBXr16Nl19+GbGxsfjuu+8wd+5c7Nq1C126dMGtW7cQHR2NwYMHl9mvtK9NeVq0aIGffvoJZmZm8PDwgIWFhdb28pri7lfZ7+HWrVsIDQ3FO++8U2abu7v7Q/clakj4ZIeoASkuLsbXX3+N9957D4mJidLr1KlT8PDwwLfffgsAaNOmzUOHcVtYWECtVmuVNW7cGFlZWVoJz4P9UH777Te8/PLLGDBgAFq3bg1LS0u9OtM6OTkhKCgIn376KW7fvl1m+82bN8vdr1WrVjh16pTWPr/99htMTEzQokULqax9+/aIjIzEkSNH4Ofnhw0bNgAAOnTogNTUVDRr1qzMy8Sk4j+jFhYWaNasGby9vcskOrrw9/eHRqPBgQMHyt3eoUMHnDlzBt7e3mXiqiyRImpImOwQNSDbt2/HP//8gwkTJsDPz0/rFRYWJjVlRUVF4dtvv0VUVBTOnj2LpKQkracH3t7eOHjwIK5evSolKz179sT169exZMkSpKWl4dNPP8XOnTu1Pr958+b45ptvcPbsWRw9ehQjR47U+ynSp59+CrVajYCAAGzevBnnz5/H2bNnsWzZMqhUqnL3GTlyJKysrBAeHo7k5GTs27cPL730EkaPHg03Nzekp6cjMjIScXFxuHTpEn799VecP38erVq1AgDMmzcPX3/9NaKjo3HmzBmcPXsWGzduxNy5c/WKXV/e3t4IDw/H+PHj8eOPPyI9PR379+/Hpk2bAAARERHIycnB8OHDcezYMaSlpeGXX37BuHHjyiSjRA1a7XYZIqKa9Mwzz4gBAwaUu6208++pU6eEEEJs3rxZtGvXTlhYWAgXFxcxePBgqW5cXJxo06aNsLS0FPf/GVmxYoXw9PQUtra2YsyYMWLhwoVaHZQTEhJEp06dhJWVlWjevLn4/vvvy3R2xkM6KJfKyMgQERERwsvLS1hYWIjHHntMPPvss1qdrB88zunTp8XTTz8trKyshJOTk5g4caLIz88XQgiRlZUlBg4cKNzd3YWFhYXw8vIS8+bNE2q1Wto/NjZWdO3aVVhbWwsHBwcREBAgVq1aVWGM5XXY1mX7/R2UhRDi7t27YubMmVJszZo1E1999ZW0/Y8//hCDBg0Sjo6OwtraWrRs2VLMmDFDaDSaii8gUQMjE6KKPf6IiIiI6gE2YxEREZFRY7JDRERERo3JDhERERk1JjtERERk1JjsEBERkVFjskNERERGjckOERERGTUmO0RERGTUmOwQERGRUWOyQ0REREaNyQ4REREZNSY7REREZNT+D7ei2VZHonAiAAAAAElFTkSuQmC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3" name="AutoShape 4" descr="data:image/png;base64,iVBORw0KGgoAAAANSUhEUgAAAjsAAAHHCAYAAABZbpmkAAAAOnRFWHRTb2Z0d2FyZQBNYXRwbG90bGliIHZlcnNpb24zLjEwLjAsIGh0dHBzOi8vbWF0cGxvdGxpYi5vcmcvlHJYcgAAAAlwSFlzAAAPYQAAD2EBqD+naQAAX+dJREFUeJzt3XlYVGX7B/DvsO+DgDCQBIimjuAeOppobqBEqfhqrrjkFpZL+Rq9JqGppa1WaraopWaWmmFKuS9JoiIKoqSESwJikoALIDPP7w9+nBwBmcFhG76f65rrYp7znDP3ORyZ2/NsMiGEABEREZGRMqntAIiIiIiqE5MdIiIiMmpMdoiIiMioMdkhIiIio8Zkh4iIiIwakx0iIiIyakx2iIiIyKgx2SEiIiKjxmSHiIiIjBqTHapzLl68CJlMhjVr1tR2KPQIxo4dC29v79oOw2jIZDK8+eabtR1GrevZsyd69uwpva+Lfy8ejJFqH5MdqlFr1qyBTCbD8ePHazuUavPmm29CJpNJL3Nzc3h7e+Pll1/GzZs3azs8ArB8+XLIZDJ07ty5ysfIyMjAm2++icTERMMFVsft37+/zL3dtGlTjBkzBn/++Wdth6eXI0eO4M033+S/yQbCrLYDIHqQl5cX7t69C3Nz89oO5ZGsWLECdnZ2uH37Nvbs2YOPP/4YCQkJOHz4cG2HViM+//xzaDSa2g6jXOvXr4e3tzfi4+Nx4cIFNGvWTO9jZGRkIDo6Gt7e3mjXrp3hg6zDXn75ZTz55JO4d+8eEhISsGrVKvz8889ISkqCh4dHjcZS1b8XR44cQXR0NMaOHQtHR8fqCY7qDD7ZoTpHJpPBysoKpqamtR1Khe7cuVNpnSFDhmDUqFGYPHkyNm3ahGHDhuG3335DfHx8DUT4L41Gg4KCghr9TAAwNzeHpaVljX9uZdLT03HkyBG8//77aNy4MdavX1/bIdU73bt3x6hRozBu3Dh8/PHHePfdd5GTk4O1a9dWuM/t27erJZb68PeCah+THapzymuDHzt2LOzs7HD16lUMHDgQdnZ2aNy4MV599VWo1Wqt/TUaDT788EO0bt0aVlZWcHNzw+TJk/HPP/9o1du2bRtCQkLg4eEBS0tL+Pr6YsGCBWWO17NnT/j5+eHEiRMIDAyEjY0NXn/9db3Pq3v37gCAtLQ0rfKjR48iODgYcrkcNjY26NGjB3777bcy++/fvx+dOnWClZUVfH198dlnn0lNZveTyWSYNm0a1q9fj9atW8PS0hKxsbEAgKtXr2L8+PFwc3ODpaUlWrduja+++qrMZ3388cdo3bo1bGxs0KhRI3Tq1AkbNmyQtufn52PGjBnw9vaGpaUlXF1d0bdvXyQkJEh1yuuzc/v2bbzyyivw9PSEpaUlWrRogXfffRdCiHLP4ccff4Sfn58Ua+l53O/cuXO4fPlyeZe8XOvXr0ejRo0QEhKCIUOGVJjs3Lx5EzNnzpTOsUmTJhgzZgz+/vtv7N+/H08++SQAYNy4cVKzTuk96+3tjbFjx5Y55oN9OYqKijBv3jx07NgRcrkctra26N69O/bt26fz+ZS6du0azMzMEB0dXWZbamoqZDIZPvnkEwDAvXv3EB0djebNm8PKygrOzs546qmnsGvXLr0/FwB69eoFoCSRBP5tyk1JScGIESPQqFEjPPXUU1L9devWoWPHjrC2toaTkxOef/55XLlypcxxV61aBV9fX1hbWyMgIACHDh0qU6eiPjvnzp3D0KFD0bhxY1hbW6NFixb43//+J8U3e/ZsAICPj4/0+7t48WK1xEi1j81YVG+o1WoEBQWhc+fOePfdd7F7926899578PX1xdSpU6V6kydPxpo1azBu3Di8/PLLSE9PxyeffIKTJ0/it99+kx53r1mzBnZ2dpg1axbs7Oywd+9ezJs3D3l5eVi6dKnWZ9+4cQP9+/fH888/j1GjRsHNzU3v+Ev/kDZq1Egq27t3L/r374+OHTsiKioKJiYmWL16NXr16oVDhw4hICAAAHDy5EkEBwfD3d0d0dHRUKvVmD9/Pho3blzuZ+3duxebNm3CtGnT4OLiAm9vb1y7dg1dunSREonGjRtj586dmDBhAvLy8jBjxgwAJc1PL7/8MoYMGYLp06ejoKAAp0+fxtGjRzFixAgAwJQpU/DDDz9g2rRpUCqVuHHjBg4fPoyzZ8+iQ4cO5cYkhMCzzz6Lffv2YcKECWjXrh1++eUXzJ49G1evXsUHH3ygVf/w4cPYsmULXnzxRdjb22PZsmUICwvD5cuX4ezsLNVr1aoVevTogf379+v0e1i/fj0GDx4MCwsLDB8+HCtWrMCxY8ek5AUAbt26he7du+Ps2bMYP348OnTogL///hs//fQT/vrrL7Rq1Qrz58/HvHnzMGnSJCmR7dq1q04xlMrLy8MXX3yB4cOHY+LEicjPz8eXX36JoKAgxMfH69U85ubmhh49emDTpk2IiorS2vbdd9/B1NQU//nPfwCUfNkvXrwYL7zwAgICApCXl4fjx48jISEBffv21escgH8T+Pt/LwDwn//8B82bN8eiRYukhHbhwoV44403MHToULzwwgu4fv06Pv74YwQGBuLkyZNSk9KXX36JyZMno2vXrpgxYwb+/PNPPPvss3BycoKnp+dD4zl9+jS6d+8Oc3NzTJo0Cd7e3khLS0NMTAwWLlyIwYMH448//sC3336LDz74AC4uLgAg/XuqiRiphgmiGrR69WoBQBw7dqzCOunp6QKAWL16tVQWHh4uAIj58+dr1W3fvr3o2LGj9P7QoUMCgFi/fr1WvdjY2DLld+7cKfPZkydPFjY2NqKgoEAq69GjhwAgVq5cqdM5RkVFCQAiNTVVXL9+XVy8eFF89dVXwtraWjRu3Fjcvn1bCCGERqMRzZs3F0FBQUKj0WjF5ePjI/r27SuVhYaGChsbG3H16lWp7Pz588LMzEw8+M8YgDAxMRFnzpzRKp8wYYJwd3cXf//9t1b5888/L+RyuXQ9nnvuOdG6deuHnqNcLhcREREPrRMeHi68vLyk9z/++KMAIN566y2tekOGDBEymUxcuHBB6xwsLCy0yk6dOiUAiI8//rjM+fbo0eOhsZQ6fvy4ACB27dolhCj5HTRp0kRMnz5dq968efMEALFly5Yyxyj9XR07dqzMfVrKy8tLhIeHlynv0aOHVqzFxcWisLBQq84///wj3NzcxPjx47XKAYioqKiHnt9nn30mAIikpCStcqVSKXr16iW9b9u2rQgJCXnoscqzb98+AUB89dVX4vr16yIjI0P8/PPPwtvbW8hkMunfdem/geHDh2vtf/HiRWFqaioWLlyoVZ6UlCTMzMyk8qKiIuHq6iratWundX1WrVpV5vdd3t+LwMBAYW9vLy5duqT1Off/O1u6dKkAINLT06s9Rqp9bMaiemXKlCla77t37641CuT777+HXC5H37598ffff0uvjh07ws7OTqt5wNraWvo5Pz8ff//9N7p37447d+7g3LlzWp9jaWmJcePG6RVrixYt0LhxY3h7e2P8+PFo1qwZdu7cCRsbGwBAYmIizp8/jxEjRuDGjRtSrLdv30bv3r1x8OBBaDQaqNVq7N69GwMHDtTq/NmsWTP079+/3M/u0aMHlEql9F4Igc2bNyM0NBRCCK1rExQUhNzcXKkJytHREX/99ReOHTtW4bk5Ojri6NGjyMjI0Pl67NixA6ampnj55Ze1yl955RUIIbBz506t8j59+sDX11d636ZNGzg4OJQZ9SOE0OupjpubG55++mkAJc1lw4YNw8aNG7WaLzdv3oy2bdti0KBBZY7xYLPhozA1NYWFhQWAkubXnJwcFBcXo1OnTlpNgroaPHgwzMzM8N1330llycnJSElJwbBhw6QyR0dHnDlzBufPn69S3OPHj0fjxo3h4eGBkJAQ3L59G2vXrkWnTp206j3473XLli3QaDQYOnSo1j2oUCjQvHlz6d/n8ePHkZ2djSlTpkjXByhpGpXL5Q+N7fr16zh48CDGjx+Pxx9/XGubLr+7moiRah6bsajesLKyKtNs06hRI62+OOfPn0dubi5cXV3LPUZ2drb085kzZzB37lzs3bsXeXl5WvVyc3O13j/22GNaf9B0sXnzZjg4OOD69etYtmwZ0tPTtRKs0i+a8PDwCo+Rm5uLgoIC3L17t9wRQxWNIvLx8dF6f/36ddy8eROrVq3CqlWryt2n9NrMmTMHu3fvRkBAAJo1a4Z+/fphxIgR6Natm1R3yZIlCA8Ph6enJzp27IgBAwZgzJgxaNq0aYXncunSJXh4eMDe3l6rvFWrVtL2+z34RQWU/X3rQ61WY+PGjXj66aelviUA0LlzZ7z33nvYs2cP+vXrB6CkWSYsLKxKn6OvtWvX4r333sO5c+dw7949qfzB36EuXFxc0Lt3b2zatAkLFiwAUNKEZWZmhsGDB0v15s+fj+eeew5PPPEE/Pz8EBwcjNGjR6NNmzY6fc68efPQvXt3mJqawsXFBa1atYKZWdmvkwfP4fz58xBCoHnz5uUet7SJufReeLBe6VD3hylNhv38/HQ6lwfVRIxU85jsUL2hy2gLjUYDV1fXCjudliZLN2/eRI8ePeDg4ID58+fD19cXVlZWSEhIwJw5c8oMmb4/SdFVYGCg1BcgNDQU/v7+GDlyJE6cOAETExPpM5YuXVph3ww7O7sqjaR6MN7Szxo1alSFyVXpF12rVq2QmpqK7du3IzY2Fps3b8by5csxb948qfPr0KFD0b17d2zduhW//vorli5dinfeeQdbtmyp8GmTvir6fYsHOjPrau/evcjMzMTGjRuxcePGMtvXr18vJTuPqqInCGq1Wuu81q1bh7Fjx2LgwIGYPXs2XF1dYWpqisWLF5fpyK6r559/HuPGjUNiYiLatWuHTZs2oXfv3tK9CJTcm2lpadi2bRt+/fVXfPHFF/jggw+wcuVKvPDCC5V+hr+/P/r06VNpvfLuQ5lMhp07d5b7+7Wzs9PhDKtXfYiR9Mdkh4yKr68vdu/ejW7duj00Qdm/fz9u3LiBLVu2IDAwUCq//3/8hmRnZ4eoqCiMGzcOmzZtwvPPPy810Tg4ODz0i8PV1RVWVla4cOFCmW3llZWncePGsLe3h1qt1ulLytbWFsOGDcOwYcNQVFSEwYMHY+HChYiMjISVlRUAwN3dHS+++CJefPFFZGdno0OHDli4cGGFyY6Xlxd2796N/Px8rac7pU2GXl5eOp1LVa1fvx6urq749NNPy2zbsmULtm7dipUrV8La2hq+vr5ITk5+6PEe1iTSqFGjcieru3Tpktb/+n/44Qc0bdoUW7Zs0Tregx2M9TFw4EBMnjxZasr6448/EBkZWaaek5MTxo0bh3HjxuHWrVsIDAzEm2++qVOyU1W+vr4QQsDHxwdPPPFEhfVK74Xz589LI72AklFk6enpaNu2bYX7ll7fqv7+aiJGqnnss0NGZejQoVCr1dIj/PsVFxdLX0Cl/2O7/ylBUVERli9fXm2xjRw5Ek2aNME777wDAOjYsSN8fX3x7rvv4tatW2XqX79+XYq1T58++PHHH7X6yFy4cKFMP5eKmJqaIiwsDJs3by73S6D0s4CSkWf3s7CwgFKphBAC9+7dg1qtLtPM5+rqCg8PDxQWFlYYw4ABA6BWq6Xhz6U++OADyGSyKj8R0mXo+d27d7FlyxY888wzGDJkSJnXtGnTkJ+fj59++gkAEBYWhlOnTmHr1q1ljlV6z9ja2gJAuUmNr68vfv/9dxQVFUll27dvLzN0ubz78OjRo4iLi9PhzMvn6OiIoKAgbNq0CRs3boSFhQUGDhyoVefB37GdnR2aNWv20N+fIQwePBimpqaIjo4u84ROCCHF1alTJzRu3BgrV67UuoZr1qypdMbjxo0bIzAwEF999VWZ++L+z6zo91cTMVLN45MdqhVfffVVuXOmTJ8+/ZGO26NHD0yePBmLFy9GYmIi+vXrB3Nzc5w/fx7ff/89PvroIwwZMgRdu3ZFo0aNEB4ejpdffhkymQzffPNNlZtIdGFubo7p06dj9uzZiI2NRXBwML744gv0798frVu3xrhx4/DYY4/h6tWr2LdvHxwcHBATEwOgZKjwr7/+im7dumHq1KlS0uDn56fzcgVvv/029u3bh86dO2PixIlQKpXIyclBQkICdu/ejZycHABAv379oFAo0K1bN7i5ueHs2bP45JNPEBISAnt7e9y8eRNNmjTBkCFD0LZtW9jZ2WH37t04duwY3nvvvQo/PzQ0FE8//TT+97//4eLFi2jbti1+/fVXbNu2DTNmzNDqjKwPXYae//TTT8jPz8ezzz5b7vYuXbpIEwwOGzYMs2fPxg8//ID//Oc/GD9+PDp27IicnBz89NNPWLlyJdq2bQtfX184Ojpi5cqVsLe3h62tLTp37gwfHx+88MIL+OGHHxAcHIyhQ4ciLS0N69atK3OOzzzzDLZs2YJBgwYhJCQE6enpWLlyJZRKZbkJsK6GDRuGUaNGYfny5QgKCiozQ7BSqUTPnj3RsWNHODk54fjx49JUAtXJ19cXb731FiIjI3Hx4kUMHDgQ9vb2SE9Px9atWzFp0iS8+uqrMDc3x1tvvYXJkyejV69eGDZsGNLT07F69Wqd+sMsW7YMTz31FDp06IBJkybBx8cHFy9exM8//yz9e+nYsSMA4H//+x+ef/55mJubIzQ0tMZipBpWw6O/qIErHXpe0evKlSsVDj23tbUtc7zSIa4PWrVqlejYsaOwtrYW9vb2wt/fX/z3v/8VGRkZUp3ffvtNdOnSRVhbWwsPDw/x3//+V/zyyy8CgNi3b59Ur0ePHpUOxS4vpuvXr5fZlpubK+Ryudaw1JMnT4rBgwcLZ2dnYWlpKby8vMTQoUPFnj17tPbds2ePaN++vbCwsBC+vr7iiy++EK+88oqwsrLSqgegwmHh165dExEREcLT01OYm5sLhUIhevfuLVatWiXV+eyzz0RgYKAUj6+vr5g9e7bIzc0VQghRWFgoZs+eLdq2bSvs7e2Fra2taNu2rVi+fLnWZz049FwIIfLz88XMmTOFh4eHMDc3F82bNxdLly7VGhL8sHMob0g3dBjmGxoaKqysrKRh/+UZO3asMDc3l4bm37hxQ0ybNk089thjwsLCQjRp0kSEh4drDd3ftm2bUCqV0hQA99+z7733nnjssceEpaWl6Natmzh+/HiZoecajUYsWrRIeHl5CUtLS9G+fXuxffv2cq8ddBh6XiovL09YW1sLAGLdunVltr/11lsiICBAODo6Cmtra9GyZUuxcOFCUVRU9NDjlg49//777x9a72H/BoQQYvPmzeKpp54Stra2wtbWVrRs2VJERESI1NRUrXrLly8XPj4+wtLSUnTq1EkcPHiwzDUs7++FEEIkJyeLQYMGCUdHR2FlZSVatGgh3njjDa06CxYsEI899pgwMTEpMwzdkDFS7ZMJUY3/lSWiajVw4MBHGkJMRNQQsM8OUT1x9+5drffnz5/Hjh07tJYfICKisvhkh6iecHd3x9ixY9G0aVNcunQJK1asQGFhIU6ePFnhnCBERMQOykT1RnBwML799ltkZWXB0tISKpUKixYtYqJDRFQJPtkhIiIio8Y+O0RERGTUmOwQERGRUWOfHZSshZKRkQF7e3uDrmhMRERE1UcIgfz8fHh4eMDEpOLnN0x2AGRkZMDT07O2wyAiIqIquHLlCpo0aVLhdiY7gLQo4ZUrV+Dg4FDL0RAREZEu8vLy4OnpqbW4cHmY7ODf1W8dHByY7BAREdUzlXVBYQdlIiIiMmpMdoiIiMioMdkhIiIio8Zkh4iIiIwakx0iIiIyakx2iIiIyKgx2SEiIiKjxmSHiIiIjBqTHSIiIjJqnEGZiIiIqoVaIxCfnoPs/AK42lshwMcJpiY1v+A2kx0iIiIyuB2nMzF3WzJybhdJZe5yK0SFKhHs516jsbAZi4iIiAxq8Y4UvLghQSvRAYDM3AJMXZeA2OTMGo2HyQ4REREZzI7TGfjsYHqF2wWA6JgUqDWixmJiskNEREQGodYIzN2WXGm9zNwCxKfn1EBEJZjsEBERkUHEp+cg5/Y9nepm5xdUczT/YrJDREREBqFPAuNqb1WNkWhjskNEREQGoWsC42xrgQAfp2qO5l9MdoiIiMggAnyc4C6vPOFZ8Jxfjc63w2SHiIiIDMLURIaoUCUelsZMDvTBgDacZ4eIiIjqqWA/d6wY1aHMEx4nW3MsH9EekQOUNR4TZ1AmIiIigwr2c0dfpaJOLBUBMNkhIiKiamBqIoPK17m2wwDAZiwiIiIyckx2iIiIyKjVmWTn7bffhkwmw4wZM6Synj17QiaTab2mTJmitd/ly5cREhICGxsbuLq6Yvbs2SguLq7h6ImIiKiuqhN9do4dO4bPPvsMbdq0KbNt4sSJmD9/vvTexsZG+lmtViMkJAQKhQJHjhxBZmYmxowZA3NzcyxatKhGYiciIqK6rdaf7Ny6dQsjR47E559/jkaNGpXZbmNjA4VCIb0cHBykbb/++itSUlKwbt06tGvXDv3798eCBQvw6aefoqioqMyxiIiIqOGp9WQnIiICISEh6NOnT7nb169fDxcXF/j5+SEyMhJ37tyRtsXFxcHf3x9ubm5SWVBQEPLy8nDmzJkKP7OwsBB5eXlaLyIiIjJOtdqMtXHjRiQkJODYsWPlbh8xYgS8vLzg4eGB06dPY86cOUhNTcWWLVsAAFlZWVqJDgDpfVZWVoWfu3jxYkRHRxvoLIiIiKguq7Vk58qVK5g+fTp27doFK6vy19GYNGmS9LO/vz/c3d3Ru3dvpKWlwdfXt8qfHRkZiVmzZknv8/Ly4OnpWeXjERERUd1Va81YJ06cQHZ2Njp06AAzMzOYmZnhwIEDWLZsGczMzKBWq8vs07lzZwDAhQsXAAAKhQLXrl3TqlP6XqFQVPjZlpaWcHBw0HoRERGRcaq1ZKd3795ISkpCYmKi9OrUqRNGjhyJxMREmJqaltknMTERAODuXrKAmEqlQlJSErKzs6U6u3btgoODA5TKml97g4iIiOqeWmvGsre3h5+fn1aZra0tnJ2d4efnh7S0NGzYsAEDBgyAs7MzTp8+jZkzZyIwMFAaot6vXz8olUqMHj0aS5YsQVZWFubOnYuIiAhYWlrWxmkRERFRHVMn5tkpj4WFBXbv3o0PP/wQt2/fhqenJ8LCwjB37lypjqmpKbZv346pU6dCpVLB1tYW4eHhWvPyEBERUcMmE0KI2g6ituXl5UEulyM3N5f9d4iIiOoJXb+/a32eHSIiIqLqxGSHiIiIjBqTHSIiIjJqTHaIiIjIqDHZISIiIqPGZIeIiIiMGpMdIiIiMmpMdoiIiMioMdkhIiIio1Znl4sgIiIiQK0RiE/PQXZ+AVztrRDg4wRTE1lth1WvMNkhIiKqo2KTMxEdk4LM3AKpzF1uhahQJYL93GsxsvqFzVhERER1UGxyJqauS9BKdAAgK7cAU9clIDY5s5Yiq3+Y7BAREdUxao1AdEwKylupu7QsOiYFak2DX8tbJ0x2iIiI6pj49JwyT3TuJwBk5hYgPj2n5oKqx5jsEBER1THZ+RUnOlWp19Ax2SEiIqpjXO2tDFqvoeNoLCIiolrwsCHlAT5OcJdbISu3oNx+OzIACnnJPlQ5JjtEREQ1rLIh5aYmMkSFKjF1XQJkgFbCUzrDTlSokvPt6IjNWERERDVI1yHlwX7uWDGqAxRy7aYqhdwKK0Z14Dw7euCTHSIiohpS2ZByGUqGlPdVKmBqIkOwnzv6KhWcQfkRMdkhIiKqIfoMKVf5OgMATE1k0s9UNWzGIiIiqiEcUl47mOwQERHVEA4prx1MdoiIiGpI6ZDyinrcyFAyKotDyg2LyQ4REVENKR1SDqBMwsMh5dWHyQ4REVEN4pDymsfRWERERDWMQ8prFpMdIiKiWsAh5TWHzVhERERk1JjsEBERkVFjskNERERGjX12iIiIdKTWCHYqroeY7BAREekgNjkT0TEpWmtbucutEBWq5HDxOo7NWERERJWITc7E1HUJZRbxzMotwNR1CYhNzqylyEgXTHaIiIgeQq0RiI5JgShnW2lZdEwK1JryalBdwGSHiIjoIeLTc8o80bmfAJCZW4D49JyaC4r0wmSHiIjoIbLzK050qlKPah6THSIioodwtbeqvJIe9ajmMdkhIiJ6iAAfJ7jLrcqsUl5KhpJRWQE+TjUZFumByQ4REdFDmJrIEBWqBIAyCU/p+6hQJefbqcOY7BAREVUi2M8dK0Z1gEKu3VSlkFthxagOnGenjuOkgkRERDoI9nNHX6WCMyjXQ0x2iIiowXjU5R5MTWRQ+TpXY4RUHepMM9bbb78NmUyGGTNmSGUFBQWIiIiAs7Mz7OzsEBYWhmvXrmntd/nyZYSEhMDGxgaurq6YPXs2iouLazh6IiKq62KTM/HUO3sx/PPfMX1jIoZ//jueemcvZz9uAOpEsnPs2DF89tlnaNOmjVb5zJkzERMTg++//x4HDhxARkYGBg8eLG1Xq9UICQlBUVERjhw5grVr12LNmjWYN29eTZ8CERHVYVzuoWGr9WTn1q1bGDlyJD7//HM0atRIKs/NzcWXX36J999/H7169ULHjh2xevVqHDlyBL///jsA4Ndff0VKSgrWrVuHdu3aoX///liwYAE+/fRTFBUV1dYpERFRHcLlHqjWk52IiAiEhISgT58+WuUnTpzAvXv3tMpbtmyJxx9/HHFxcQCAuLg4+Pv7w83NTaoTFBSEvLw8nDlzpmZOgIiI6jQu90C12kF548aNSEhIwLFjx8psy8rKgoWFBRwdHbXK3dzckJWVJdW5P9Ep3V66rSKFhYUoLCyU3ufl5VX1FIiIqI7jcg9Ua092rly5gunTp2P9+vWwsqrZKbYXL14MuVwuvTw9PWv084mIqOZwuQeqtWTnxIkTyM7ORocOHWBmZgYzMzMcOHAAy5Ytg5mZGdzc3FBUVISbN29q7Xft2jUoFAoAgEKhKDM6q/R9aZ3yREZGIjc3V3pduXLFsCdHRER1Bpd7oFpLdnr37o2kpCQkJiZKr06dOmHkyJHSz+bm5tizZ4+0T2pqKi5fvgyVSgUAUKlUSEpKQnZ2tlRn165dcHBwgFKprPCzLS0t4eDgoPUiIiLjxOUeqNb67Njb28PPz0+rzNbWFs7OzlL5hAkTMGvWLDg5OcHBwQEvvfQSVCoVunTpAgDo168flEolRo8ejSVLliArKwtz585FREQELC0ta/yciIiobipd7iE6JkWrs7JCboWoUCWXezBydXoG5Q8++AAmJiYICwtDYWEhgoKCsHz5cmm7qakptm/fjqlTp0KlUsHW1hbh4eGYP39+LUZNRER1EZd7aLhkQogGP7FAXl4e5HI5cnNz2aRFRERUT+j6/V3r8+wQERERVScmO0RERGTUmOwQERGRUWOyQ0REREaNyQ4REREZNSY7REREZNSY7BAREZFRY7JDRERERo3JDhERERk1JjtERERk1JjsEBERkVFjskNERERGjckOERERGTUmO0RERGTUmOwQERGRUWOyQ0REREaNyQ4REREZNSY7REREZNSY7BAREZFRY7JDRERERo3JDhERERm1R0p2CgoKDBUHERERUbXQO9nRaDRYsGABHnvsMdjZ2eHPP/8EALzxxhv48ssvDR4gERER0aPQO9l56623sGbNGixZsgQWFhZSuZ+fH7744guDBkdERET0qPROdr7++musWrUKI0eOhKmpqVTetm1bnDt3zqDBERERET0qvZOdq1evolmzZmXKNRoN7t27Z5CgiIiIiAxF72RHqVTi0KFDZcp/+OEHtG/f3iBBERERERmKmb47zJs3D+Hh4bh69So0Gg22bNmC1NRUfP3119i+fXt1xEhERERUZXo/2XnuuecQExOD3bt3w9bWFvPmzcPZs2cRExODvn37VkeMRERERFUmE0KI2g6ituXl5UEulyM3NxcODg61HQ4RERHpQNfvb72f7Bw7dgxHjx4tU3706FEcP35c38MRERERVSu9k52IiAhcuXKlTPnVq1cRERFhkKCIiIiIDEXvZCclJQUdOnQoU96+fXukpKQYJCgiIiIiQ9E72bG0tMS1a9fKlGdmZsLMTO/BXURERETVSu9kp1+/foiMjERubq5UdvPmTbz++uscjUVERER1jt6PYt59910EBgbCy8tLmkQwMTERbm5u+OabbwweIBERGZ5aIxCfnoPs/AK42lshwMcJpiay2g6LqFronew89thjOH36NNavX49Tp07B2toa48aNw/Dhw2Fubl4dMRIRkQHFJmciOiYFmbkFUpm73ApRoUoE+7nXYmRE1YPz7IDz7BBRwxGbnImp6xLw4B/+0mc6K0Z1YMJD9Yau3986Pdn56aef0L9/f5ibm+Onn356aN1nn31Wv0iJiKhGqDUC0TEpZRIdABAoSXiiY1LQV6lgkxYZFZ2SnYEDByIrKwuurq4YOHBghfVkMhnUarWhYiMiIgOKT8/Rarp6kACQmVuA+PQcqHyday4womqmU7Kj0WjK/ZmIiOqP7PyKE52q1COqL/Qaen7v3j307t0b58+fr654iIiomrjaWxm0HlF9oVeyY25ujtOnT1dXLEREVI0CfJzgLrdCRb1xZCgZlRXg41STYRFVO70nFRw1ahS+/PLL6oiFiIiqkamJDFGhSgAok/CUvo8KVbJzMhkdvZOd4uJirFixAp06dcLkyZMxa9YsrZc+VqxYgTZt2sDBwQEODg5QqVTYuXOntL1nz56QyWRarylTpmgd4/LlywgJCYGNjQ1cXV0xe/ZsFBcX63taREQNQrCfO1aM6gCFXLupSiG34rBzMlp6TyqYnJwsLQT6xx9/aG2TyfT730CTJk3w9ttvo3nz5hBCYO3atXjuuedw8uRJtG7dGgAwceJEzJ8/X9rHxsZG+lmtViMkJAQKhQJHjhxBZmYmxowZA3NzcyxatEjfUyMiahCC/dzRV6ngDMrUYNS5SQWdnJywdOlSTJgwAT179kS7du3w4Ycfllt3586deOaZZ5CRkQE3NzcAwMqVKzFnzhxcv34dFhYWOn0mJxUkIiKqf3T9/tarGeu7777DyJEj8Z///AcrV6585CDvp1arsXHjRty+fRsqlUoqX79+PVxcXODn54fIyEjcuXNH2hYXFwd/f38p0QGAoKAg5OXl4cyZMxV+VmFhIfLy8rReREREZJx0bsZasWIFIiIi0Lx5c1hbW2PLli1IS0vD0qVLHymApKQkqFQqFBQUwM7ODlu3boVSWdKBbsSIEfDy8oKHhwdOnz6NOXPmIDU1FVu2bAEAZGVlaSU6AKT3WVlZFX7m4sWLER0d/UhxExERUf2gczNW69atMXToUERFRQEA1q1bh8mTJ+P27duPFEBRUREuX76M3Nxc/PDDD/jiiy9w4MABKeG53969e9G7d29cuHABvr6+mDRpEi5duoRffvlFqnPnzh3Y2tpix44d6N+/f7mfWVhYiMLCQul9Xl4ePD092YxFRERUjxi8GevPP/9EeHi49H7EiBEoLi5GZmbmIwVqYWGBZs2aoWPHjli8eDHatm2Ljz76qNy6nTt3BgBcuHABAKBQKHDt2jWtOqXvFQpFhZ9paWkpjQArfREREZFx0jnZKSwshK2t7b87mpjAwsICd+/eNWhAGo1G66nL/RITEwEA7u4lQyNVKhWSkpKQnZ0t1dm1axccHBzKfTJEREREDY9eQ8/feOMNraHfRUVFWLhwIeRyuVT2/vvv63y8yMhI9O/fH48//jjy8/OxYcMG7N+/H7/88gvS0tKwYcMGDBgwAM7Ozjh9+jRmzpyJwMBAtGnTBgDQr18/KJVKjB49GkuWLEFWVhbmzp2LiIgIWFpa6nNqRER1jlojODycyAB0TnYCAwORmpqqVda1a1f8+eef0nt959nJzs7GmDFjkJmZCblcjjZt2uCXX35B3759ceXKFezevRsffvghbt++DU9PT4SFhWHu3LnS/qampti+fTumTp0KlUoFW1tbhIeHa83LQ0RUH8UmZyI6JkVrlXJ3uRWiQpWc+I9IT3Vunp3awHl2iKguiU3OxNR1CXjwj3Ppfyc50zFRiWqZZ4eIiKqXWiMQHZNSJtEBIJVFx6RArWnw/08l0hmTHSKiOkCtEYhLu4EPdqVqNV09SADIzC1AfHpOzQVHVM/pvTYWEREZVnn9cyqTna97XaKGjskOEVEtqqh/TmVc7a0qr0REAJjsEBHVmof1z6mIDIBCXjIMnYh0U6U+O4cOHcKoUaOgUqlw9epVAMA333yDw4cPGzQ4IiJjFp+eo1fTVelorKhQJefbIdKD3snO5s2bERQUBGtra5w8eVKa7Tg3NxeLFi0yeIBERMZK3343CrkVh50TVYHeyc5bb72FlStX4vPPP4e5ublU3q1bNyQkJBg0OCIiY6Zrv5tpTzfDtxO74PCcXkx0iKpA7z47qampCAwMLFMul8tx8+ZNQ8RERNQgBPg4wV1uhazcgnL77ZT2z5nZ9wk2WxE9Ar2f7CgUCmnV8fsdPnwYTZs2NUhQREQNgamJDFGhJYsWP5jKsH8OkeHonexMnDgR06dPx9GjRyGTyZCRkYH169fj1VdfxdSpU6sjRiIioxXs544VozpAIddu0mL/HCLD0bsZ67XXXoNGo0Hv3r1x584dBAYGwtLSEq+++ipeeuml6oiRiMioBfu5o69SwRXOiapJlRcCLSoqwoULF3Dr1i0olUrY2dkZOrYaw4VAiYiI6p9qXwjUwsICSqUSLVu2xO7du3H27NmqHoqIiIio2uid7AwdOhSffPIJAODu3bt48sknMXToULRp0wabN282eIBEREREj0LvZOfgwYPo3r07AGDr1q3QaDS4efMmli1bhrfeesvgARIRERE9Cr2TndzcXDg5lazJEhsbi7CwMNjY2CAkJATnz583eIBEREREj0LvZMfT0xNxcXG4ffs2YmNj0a9fPwDAP//8AysrrsJLREREdYveQ89nzJiBkSNHws7ODl5eXujZsyeAkuYtf39/Q8dHRERE9Ej0TnZefPFFBAQE4MqVK+jbty9MTEoeDjVt2pR9doiIiKjOqfI8OwBQuqtMVr8nvuI8O0RERPVPtc6z8/XXX8Pf3x/W1tawtrZGmzZt8M0331Q5WCIiIqLqoncz1vvvv4833ngD06ZNQ7du3QCULAI6ZcoU/P3335g5c6bBgyQiIiKqKr2bsXx8fBAdHY0xY8Zola9duxZvvvkm0tPTDRpgTWAzFhERUf1Tbc1YmZmZ6Nq1a5nyrl27IjMzU9/DEREREVUrvZOdZs2aYdOmTWXKv/vuOzRv3twgQREREREZit59dqKjozFs2DAcPHhQ6rPz22+/Yc+ePeUmQURERES1Se8nO2FhYTh69ChcXFzw448/4scff4SLiwvi4+MxaNCg6oiRiIiIqMoeaZ4dY8EOykRERPWPrt/fOjVj5eXl6fzBTBaIiIioLtEp2XF0dKx0lmQhBGQyGdRqtUECIyIiIjIEnZKdffv2VXccRERERNVCp2SnR48e1R0HERERUbXQeTTW+fPnMXz48HL77+Tm5mLEiBH4888/DRocERER0aPSOdlZunQpPD09y+2ALJfL4enpiaVLlxo0OCIiIqJHpXOyc+DAAfznP/+pcPvQoUOxd+9egwRFREREZCg6JzuXL1+Gq6trhdtdXFxw5coVgwRFREREZCg6JztyuRxpaWkVbr9w4QLn2CEiIqI6R+dkJzAwEB9//HGF25ctW4bu3bsbJCgiIiIiQ9E52YmMjMTOnTsxZMgQxMfHIzc3F7m5uTh69CjCwsLwyy+/IDIysjpjJSIiItKbzquet2/fHj/88APGjx+PrVu3am1zdnbGpk2b0KFDB4MHSERERPQodE52AOCZZ57BpUuXEBsbiwsXLkAIgSeeeAL9+vWDjY1NdcVIREREVGV6JTsAYG1tjUGDBlVHLEREREQGp3OfHSIiIqL6qFaTnRUrVqBNmzZwcHCAg4MDVCoVdu7cKW0vKChAREQEnJ2dYWdnh7CwMFy7dk3rGJcvX0ZISAhsbGzg6uqK2bNno7i4uKZPhYiIiOqoWk12mjRpgrfffhsnTpzA8ePH0atXLzz33HM4c+YMAGDmzJmIiYnB999/jwMHDiAjIwODBw+W9ler1QgJCUFRURGOHDmCtWvXYs2aNZg3b15tnRIRERHVMTIhhKjtIO7n5OSEpUuXYsiQIWjcuDE2bNiAIUOGAADOnTuHVq1aIS4uDl26dMHOnTvxzDPPICMjA25ubgCAlStXYs6cObh+/TosLCx0+sy8vDzI5XLk5uZyYkQiIqJ6Qtfvb52e7OTl5en8qiq1Wo2NGzfi9u3bUKlUOHHiBO7du4c+ffpIdVq2bInHH38ccXFxAIC4uDj4+/tLiQ4ABAUFIS8vT3o6VJ7CwkKDxU1ERER1m06jsRwdHSGTyXQ6oFqt1iuApKQkqFQqFBQUwM7ODlu3boVSqURiYiIsLCzg6OioVd/NzQ1ZWVkAgKysLK1Ep3R76baKLF68GNHR0XrFSURERPWTTsnOvn37pJ8vXryI1157DWPHjoVKpQJQ8oRl7dq1WLx4sd4BtGjRAomJicjNzcUPP/yA8PBwHDhwQO/j6CMyMhKzZs2S3ufl5cHT07NaP5OIiIhqh07JTo8ePaSf58+fj/fffx/Dhw+Xyp599ln4+/tj1apVCA8P1ysACwsLNGvWDADQsWNHHDt2DB999BGGDRuGoqIi3Lx5U+vpzrVr16BQKAAACoUC8fHxWscrHa1VWqc8lpaWsLS01CtOIiIiqp/0Ho0VFxeHTp06lSnv1KlTmcSjKjQaDQoLC9GxY0eYm5tjz5490rbU1FRcvnxZeqKkUqmQlJSE7Oxsqc6uXbvg4OAApVL5yLEQERFR/af3DMqenp74/PPPsWTJEq3yL774Qu+moMjISPTv3x+PP/448vPzsWHDBuzfvx+//PIL5HI5JkyYgFmzZsHJyQkODg546aWXoFKp0KVLFwBAv379oFQqMXr0aCxZsgRZWVmYO3cuIiIi+OSGiIiIAFQh2fnggw8QFhaGnTt3onPnzgCA+Ph4nD9/Hps3b9brWNnZ2RgzZgwyMzMhl8vRpk0b/PLLL+jbt6/0WSYmJggLC0NhYSGCgoKwfPlyaX9TU1Ns374dU6dOhUqlgq2tLcLDwzF//nx9T4uIiIiMVJXm2bly5QpWrFiBc+fOAQBatWqFKVOm1NtOvpxnh4iIqP7R9fu7zk0qWBuY7BAREdU/Bp1U8EGHDh3CqFGj0LVrV1y9ehUA8M033+Dw4cNVi5aIjJZaIxCXdgPbEq8iLu0G1JoG//8rIqphevfZ2bx5M0aPHo2RI0ciISEBhYWFAIDc3FwsWrQIO3bsMHiQRFQ/xSZnIjomBZm5BVKZu9wKUaFKBPu512JkRNSQ6P1k56233sLKlSvx+eefw9zcXCrv1q0bEhISDBocEdVfscmZmLouQSvRAYCs3AJMXZeA2OTMWoqMiBoavZOd1NRUBAYGlimXy+W4efOmIWIionpOrRGIjklBeQ1WpWXRMSls0iKiGqF3sqNQKHDhwoUy5YcPH0bTpk0NEhQR1W/x6TllnujcTwDIzC1AfHpOzQVFRA2W3snOxIkTMX36dBw9ehQymQwZGRlYv349Xn31VUydOrU6YiSieiY7v+JEpyr1iIgehd4dlF977TVoNBr07t0bd+7cQWBgICwtLfHqq6/ipZdeqo4YiaiecbW3Mmg9IqJHUeV5doqKinDhwgXcunULSqUSdnZ2ho6txnCeHSLDUmsEnnpnL7JyC8rttyMDoJBb4fCcXjA1kdV0eERkJKptnp3x48cjPz8fFhYWUCqVCAgIgJ2dHW7fvo3x48c/UtBEZBxMTWSICi1ZjPfBVKb0fVSokokOEdUIvZOdtWvX4u7du2XK7969i6+//togQRFR/Rfs544VozpAIdduqlLIrbBiVAfOs0NENUbnPjt5eXkQQkAIgfz8fFhZ/fsHTK1WY8eOHXB1da2WIImofgr2c0dfpQLx6TnIzi+Aq70VAnyc+ESHiGqUzsmOo6MjZDIZZDIZnnjiiTLbZTIZoqOjDRocEdV/piYyqHydazsMImrAdE529u3bByEEevXqhc2bN8PJyUnaZmFhAS8vL3h4eFRLkERERERVpXOy06NHDwBAeno6Hn/8cchkfAxNREREdZ/eHZT37t2LH374oUz5999/j7Vr1xokKCIiIiJD0TvZWbx4MVxcXMqUu7q6YtGiRQYJioiIiMhQ9E52Ll++DB8fnzLlXl5euHz5skGCIiIiIjIUvZMdV1dXnD59ukz5qVOn4OzMERdERERUt+id7AwfPhwvv/wy9u3bB7VaDbVajb1792L69Ol4/vnnqyNGIiIioirTeyHQBQsW4OLFi+jduzfMzEp212g0GDNmDPvsEBERUZ1T5YVA//jjD5w6dQrW1tbw9/eHl5eXoWOrMVwIlIiIqP7R9ftb7yc7pZ544olyZ1ImorpNrRFcvoGIGhSdkp1Zs2ZhwYIFsLW1xaxZsx5a9/333zdIYERkeLHJmYiOSUFmboFU5i63QlSokgtzEpHR0inZOXnyJO7duyf9XBHOqkxUd8UmZ2LqugQ82G6dlVuAqesSuBI5ERmtKvfZMSbss0PGTq0ReOqdvVpPdO4nA6CQW+HwnF5s0iKiekPX72+9h54TUf0Tn55TYaIDAAJAZm4B4tNzai4oIqIaolMz1uDBg3U+4JYtW6ocDBFVj+z8ihOdqtQjIqpPdHqyI5fLpZeDgwP27NmD48ePS9tPnDiBPXv2QC6XV1ugRFR1rvZWBq1HRFSf6PRkZ/Xq1dLPc+bMwdChQ7Fy5UqYmpoCANRqNV588UX2dyGqRQ8bUh7g4wR3uRWycgvKdFAG/u2zE+DjVKMxExHVBL07KDdu3BiHDx9GixYttMpTU1PRtWtX3Lhxw6AB1gR2UKb6bsfpTMzdloyc20VS2YNDyktHYwHQSnhKuyNzNBYR1TfV1kG5uLgY586dK1N+7tw5aDQafQ9HRI9o8Y4UvLghQSvRAUo6HE9dl4DY5EwAQLCfO1aM6gCFXLupSiG3YqJDREZN7xmUx40bhwkTJiAtLQ0BAQEAgKNHj+Ltt9/GuHHjDB4gEVVsx+kMfHYwvcLtAkB0TAr6KhUwNZEh2M8dfZUKzqBMRA2K3snOu+++C4VCgffeew+ZmSX/Y3R3d8fs2bPxyiuvGDxAIiqfWiMwd1typfVKh5SrfJ0BAKYmMulnIqKGQO9kx8TEBP/973/x3//+F3l5eQDAfi5EtSA+PQc5t+/pVJdDyomoIavSQqDFxcXYv38/0tLSMGLECABARkYGHBwcYGdnZ9AAiajEg6OtsnLv6rwvh5QTUUOmd7Jz6dIlBAcH4/LlyygsLETfvn1hb2+Pd955B4WFhVi5cmV1xEnUoJW3gKeTrYVO+zrbWnBIORE1aHqPxpo+fTo6deqEf/75B9bW1lL5oEGDsGfPHoMGR0T/Dhl/cLmHfx4YfVWRBc/5sQMyETVoej/ZOXToEI4cOQILC+3/VXp7e+Pq1asGC4yISpquomNSyp0IUJcJsiYH+mBAGw4pJ6KGTe9kR6PRQK1Wlyn/66+/YG9vb5CgiKhEZQt4lnKyNdfqrOxka463nvPDgDYe1RkeEVG9oHey069fP3z44YdYtWoVAEAmk+HWrVuIiorCgAEDDB4gUUOm6yiqN55pDYWDFefOISIqR5Xm2QkODoZSqURBQQFGjBiB8+fPw8XFBd9++211xEjUYOk6ikrhYMW5c4iIKqB3suPp6YlTp07hu+++w6lTp3Dr1i1MmDABI0eO1OqwTESPjgt4EhE9Or1GY927dw++vr44f/48Ro4ciSVLlmD58uV44YUXqpToLF68GE8++STs7e3h6uqKgQMHIjU1VatOz549IZPJtF5TpkzRqnP58mWEhITAxsYGrq6umD17NoqLi/WOh6g2qDUCcWk3sC3xKuLSbkCt+TetMTWRISpUCeDfBTtLlb6PClWyyYqI6CH0erJjbm6OggLDzcR64MABRERE4Mknn0RxcTFef/119OvXDykpKbC1tZXqTZw4EfPnz5fe29jYSD+r1WqEhIRAoVDgyJEjyMzMxJgxY2Bubo5FixYZLFYiQ1NrBD7ZewGrf0vHzbv/di5+cLXy0gU8H5xnR/FAPSIiKp9MCKHLCFbJokWL8Mcff+CLL76AmVmVJmCu0PXr1+Hq6ooDBw4gMDAQQMmTnXbt2uHDDz8sd5+dO3fimWeeQUZGBtzc3AAAK1euxJw5c3D9+vUyQ+TLo+sS8USGEpucide2JOHmnbLLPZQ+o3lwJfIHZ1BmJ2Qiauh0/f7WO1s5duwY9uzZg19//RX+/v5aT2AAYMuWLfpH+/9yc3MBAE5O2v0P1q9fj3Xr1kGhUCA0NBRvvPGG9HQnLi4O/v7+UqIDAEFBQZg6dSrOnDmD9u3bVzkeouoQm5yJKesSKtwuUJLw3L9aOcAFPImIqkrvZMfR0RFhYWEGD0Sj0WDGjBno1q0b/Pz8pPIRI0bAy8sLHh4eOH36NObMmYPU1FQpqcrKytJKdABI77Oyssr9rMLCQhQWFkrvSxc0JapuRcUavL618pXKBcquVk5ERFWjd7KzevXq6ogDERERSE5OxuHDh7XKJ02aJP3s7+8Pd3d39O7dG2lpafD19a3SZy1evBjR0dGPFC+RvmKTM/H61iSdVyoHuFo5EZEh6DwaS6PR4J133kG3bt3w5JNP4rXXXsPdu7qvuvww06ZNw/bt27Fv3z40adLkoXU7d+4MALhw4QIAQKFQ4Nq1a1p1St8rFIpyjxEZGYnc3FzpdeXKlUc9BaIKqTUCH+0+jynrEvRKdACuVk5EZAg6JzsLFy7E66+/Djs7Ozz22GP46KOPEBER8UgfLoTAtGnTsHXrVuzduxc+Pj6V7pOYmAgAcHcv6bipUqmQlJSE7Oxsqc6uXbvg4OAApVJZ7jEsLS3h4OCg9SKqDrHJmej29h58sPsPvfd15/w5REQGofNorObNm+PVV1/F5MmTAQC7d+9GSEgI7t69CxMTvRdPBwC8+OKL2LBhA7Zt24YWLVpI5XK5HNbW1khLS8OGDRswYMAAODs74/Tp05g5cyaaNGmCAwcOACgZet6uXTt4eHhgyZIlyMrKwujRo/HCCy/oPPSco7GoOpSuVq7XcMf/J0PZ0VhERKRN1+9vnZMdS0tLXLhwAZ6enlKZlZUVLly4UGnTU4UfLit/2Ozq1asxduxYXLlyBaNGjUJycjJu374NT09PDBo0CHPnztU6qUuXLmHq1KnYv38/bG1tER4ejrffflvnofFMdsjQ1BqBp97Zq9Ming9qZGOOxYP9megQEVXC4EPPi4uLYWWl3X/A3Nwc9+7p1wfhfpXlWZ6entITnIfx8vLCjh07qhwHkSHcPw/O3/mFeic6dpammNi9Kab1as75c4iIDEjnZEcIgbFjx8LS0lIqKygowJQpU7Tm2nmUeXaI6qOSmZDPY/VvF7VmQtaHk605fo/sAwuzqjUJExFRxXROdsLDw8uUjRo1yqDBENU3D5sJWVcyAIsG+TPRISKqJjonO9U1vw5RffUoHZBLPbgOFhERGZ5hF7ciaiDUGoHomJRHSnRm9mnO/jlERDWAyQ5RFcSn51RppBXApzlERDWNyQ5RFei7jMMbIa3gYm/J1cqJiGoBkx2iKtBnGQd3uRXGdvNhgkNEVEs4/IOoCgJ8nOAut4Iu6UtUqJKJDhFRLWKyQ1SBomINvjz0J+ZtS8aXh/5EUbFG2mZqIkNUaMnaaxWlMY425ljJJR+IiGqdzstFGDMuF0EPWrwjBZ8fSofmvn8dJjJgYncfRA74d4HZ2ORMRMekaHVWdrQxx7iuPpjWqxmf6BARVSODLxdB1BAUFWsw5quj+P3PnDLbNAL47GA6AEgJT7CfO/oqFdIyEeyATERU9zDZIfp/5T3NKc/nh9LxSr+W0ozHpiYyqHydayBCIiKqCvbZIUJJovPZwcoTHaDkCc83cRerPSYiIjIMJjvU4BUVa/D5oXS99rmUc6eaoiEiIkNjskMN3jdxF3V6onM/Lyeb6gmGiIgMjskONXj6PqUxkQGjVd7VEwwRERkckx1q8PR9SjOxu4/UOZmIiOo+/sWmBm+0yhu6jBSXAZgcqD3PDhER1X0cek4NglojKpwLx8LMBBO7+0hz6JRH5eOMtRMC+ESHiKgeYrJDRq+8WY7d5VaIClVKSzmUPq3RZdZkIiKqX7hcBLhchDEqfZKzKyULX/12scz20larFQ+sXVVUrME3cRdxKecOvJxsMFrlzac5RER1FJeLoAarvCc5DxIoSXiiY1LQV6nQatKa0L1pzQRKREQ1gv9lJaMSm5yJqesSHprolBIAMnMLEJ9edh0sIiIyHkx2yGioNQLRMSnQt102O7/yxIiIiOovJjtkFNQagTW/pev0ROdBrvZW1RARERHVFeyzQ/WeLn10yiMDoJCXDEMnIiLjxWSH6rXSPjr6Nl2VjsaKClVKnZOJiMg4MdmhequqfXSAkic698+zQ0RExovJDtVb8ek5ejddTejmjT5KhdYMykREZNyY7FC9pc8oqgdnTCYiooaDyQ7VW7qOonojpBXGdvPhkxwiogaKQ8+p3grwcYK73AoVpTAylDzRYaJDRNSwMdmhOkmtETj0x3XM2HgSk74+hs8P/omiYo1WHVMTGaJCSxbofDCV4WgrIiIqxYVAwYVA65rY5EzM2nQKd4rUWuUyGTCpnBXIdVnVnIiIjA8XAqV6KTY5E1PWJZS7TQjgs4PpAKCV8AT7uaOvUoH49Bxk5xfA1d6Ko62IiEjCZIfqDLVGIGrbmUrrfX4oHa/0awkLs39bYU1NZFD5OldneEREVE+xzw7VGfHpObiWX1hpPY0Avom7WP0BERGRUWCyQ3WGPvPmXMq5U42REBGRMWGyQ3WGPquPeznZVGMkRERkTJjsUJ0R4OMEN3vLSuuZyIDRKu/qD4iIiIwCkx2qM0xNZIh+rnWl9SZ299HqnExERPQw/MagOiXYzx0rR3WAjYVpmW0yGTA5sOw8O0RERA/DoedU55TOm3Pkwt/YnPAX7hQV40lvZ4R39eYTHSIi0huTHapWao2o0mR/piYydH+iMbo/0bgGoiQiImNWq/9NXrx4MZ588knY29vD1dUVAwcORGpqqladgoICREREwNnZGXZ2dggLC8O1a9e06ly+fBkhISGwsbGBq6srZs+ejeLi4po8FSrH9sQMtJv/K4Z//jumb0zE8M9/x1Pv7EVscmZth0ZERA1IrSY7Bw4cQEREBH7//Xfs2rUL9+7dQ79+/XD79m2pzsyZMxETE4Pvv/8eBw4cQEZGBgYPHixtV6vVCAkJQVFREY4cOYK1a9dizZo1mDdvXm2cEv2/iV8fw7SNJ5FfoJ10ZuYWYOq6BCY8RERUY+rUQqDXr1+Hq6srDhw4gMDAQOTm5qJx48bYsGEDhgwZAgA4d+4cWrVqhbi4OHTp0gU7d+7EM888g4yMDLi5uQEAVq5ciTlz5uD69euwsLCo9HO5EKjhqDUCL3+bgJ+Tsh5az11uhcNzenH9KiIiqjJdv7/rVG/P3NxcAICTkxMA4MSJE7h37x769Okj1WnZsiUef/xxxMXFAQDi4uLg7+8vJToAEBQUhLy8PJw5U/46S4WFhcjLy9N60aOLTc5Et7f3VproACVPeOLTc2ogKiIiaujqTLKj0WgwY8YMdOvWDX5+fgCArKwsWFhYwNHRUauum5sbsrKypDr3Jzql20u3lWfx4sWQy+XSy9PT08Bn0/DEJmdi6roEZOXpvuSDPstDEBERVVWdSXYiIiKQnJyMjRs3VvtnRUZGIjc3V3pduXKl2j/TWKk1Ar+d/xuvbU6Cvu2h+iwPQUREVFV1Yuj5tGnTsH37dhw8eBBNmjSRyhUKBYqKinDz5k2tpzvXrl2DQqGQ6sTHx2sdr3S0VmmdB1laWsLSsvJlCejhYpMzER2Tgsxc/Z/QOFiZIcDHqRqiIiIi0larT3aEEJg2bRq2bt2KvXv3wsfHR2t7x44dYW5ujj179khlqampuHz5MlQqFQBApVIhKSkJ2dnZUp1du3bBwcEBSiVn2q0upc1WVUl0AGDRQH92TiYiohpRq092IiIisGHDBmzbtg329vZSHxu5XA5ra2vI5XJMmDABs2bNgpOTExwcHPDSSy9BpVKhS5cuAIB+/fpBqVRi9OjRWLJkCbKysjB37lxERETw6U01UWsEomNS9G62KtVX6Ypn2nkYNCYiIqKK1Gqys2LFCgBAz549tcpXr16NsWPHAgA++OADmJiYICwsDIWFhQgKCsLy5culuqampti+fTumTp0KlUoFW1tbhIeHY/78+TV1Gg1OfHpOlZ/oTOzug/+F8IkbERHVnDo1z05t4Tw7+tmWeBXTNybqtc+QDo9h0eA2XNuKiIgMRtfv7zrRQZnqF31GUbnLrRAVqkSwn3s1RkRERFQxJjuktwAfJ7jLrZCVW1Bhvx1Ha3N8OrIDujR1ZkdkIiKqVWxTIL2ZmsgQFVrS7+bBNEb2/6+3w/zRrZkLEx0iIqp1THaoSoL93LFiVAco5NpNWgq5FVaM6sBmKyIiqjPYjEVVFuznjr5KBeLTc5CdXwBXeysE+DjxaQ4REdUpTHbokZiayKDyda7tMIiIiCrEZiwiIiIyakx2iIiIyKgx2SEiIiKjxj47DYhaI9iZmIiIGhwmOw1EbHImomNStNa04uzGRETUELAZqwGITc7E1HUJZRbvzMotwNR1CYhNzqylyIiIiKofkx0jptYI/Hbhb7y2OancZR1Ky6JjUqDWNPj1YImIyEixGctI7Tidgf9tTcY/d+89tJ4AkJlbgPj0HM6XQ0RERonJjhFa+PMZfH7ool77ZOcXVF6JiIioHmKyY0SKijUY8+VR/J6eo/e+rvZWlVciIiKqh5jsGImFP6fg80Ppeu8nQ8ninQE+ToYPioiIqA5gsmMEJqyJx55z1/Xer3SGnahQJefbISIio8Vkp54bv/p37E29UaV9FZxnh4iIGgAmO/XYC2uPVTnRGdXZE9HP+fOJDhERGT0mO/WQWiPw0e4/sPtsdpWPMS/Uj4kOERE1CEx26pnY5Ey8+dMZZOUVVvkYkwN9YGHG+SSJiKhhYLJTj5Qu+/Aocx1PDvRB5AClwWIiIiKq65js1BNqjUB0TEqVE51B7TzwzpC2fKJDREQNDpOdeiI+PafMQp66mtjdB/8L4dMcIiJqmJjs1BNVXc6BzVZERNTQMdmpJ/RdzuEJVztsf7k7m62IiKjBY7JTTwT4OMFdboWs3IKH9ttxsDLDwkH+CG3rUWOxERER1WX8b389YWoiQ1RoSXNURbPjzOzTHCfn9WOiQ0REdB8mO/VIsJ87VozqAIVcu0nLXW6FlaM6YHqfJzhRIBER0QPYjFXPBPu5o69Sgfj0HGTnF8DVvmTFciY5RERE5WOyUw+Zmsig8nWu7TCIiIjqBTZjERERkVFjskNERERGjckOERERGTUmO0RERGTUmOwQERGRUeNorGqi1ggODyciIqoDmOxUg9jkTETHpGitUu4ut0JUqBLBfu61GBkREVHDw2YsA4tNzsTUdQlaiQ4AZOUWYOq6BMQmZ9ZSZERERA0Tkx0DUmsEomNSyl2os7QsOiYFas3DlvIkIiIiQ2KyY0Dx6TllnujcTwDIzC1AfHpOzQVFRETUwDHZMaDs/IoTnarUIyIiokfHZMeAXO2tKq+kRz0iIiJ6dLWa7Bw8eBChoaHw8PCATCbDjz/+qLV97NixkMlkWq/g4GCtOjk5ORg5ciQcHBzg6OiICRMm4NatWzV4Fv8K8HGCu9wKFQ0wl6FkVFaAj1NNhkVERNSg1Wqyc/v2bbRt2xaffvpphXWCg4ORmZkpvb799lut7SNHjsSZM2ewa9cubN++HQcPHsSkSZOqO/RymZrIEBWqBIAyCU/p+6hQJefbISIiqkG1Os9O//790b9//4fWsbS0hEKhKHfb2bNnERsbi2PHjqFTp04AgI8//hgDBgzAu+++Cw8PD4PHXJlgP3esGNWhzDw7Cs6zQ0REVCvq/KSC+/fvh6urKxo1aoRevXrhrbfegrOzMwAgLi4Ojo6OUqIDAH369IGJiQmOHj2KQYMGlXvMwsJCFBYWSu/z8vIMGnOwnzv6KhWcQZmIiKgOqNPJTnBwMAYPHgwfHx+kpaXh9ddfR//+/REXFwdTU1NkZWXB1dVVax8zMzM4OTkhKyurwuMuXrwY0dHR1Rq7qYkMKl/nav0MIiIiqlydTnaef/556Wd/f3+0adMGvr6+2L9/P3r37l3l40ZGRmLWrFnS+7y8PHh6ej5SrERERFQ31auh502bNoWLiwsuXLgAAFAoFMjOztaqU1xcjJycnAr7+QAl/YAcHBy0XkRERGSc6lWy89dff+HGjRtwdy/p5KtSqXDz5k2cOHFCqrN3715oNBp07ty5tsIkIiKiOqRWm7Fu3bolPaUBgPT0dCQmJsLJyQlOTk6Ijo5GWFgYFAoF0tLS8N///hfNmjVDUFAQAKBVq1YIDg7GxIkTsXLlSty7dw/Tpk3D888/XysjsYiIiKjukQkham1Vyv379+Ppp58uUx4eHo4VK1Zg4MCBOHnyJG7evAkPDw/069cPCxYsgJubm1Q3JycH06ZNQ0xMDExMTBAWFoZly5bBzs5O5zjy8vIgl8uRm5vLJi0iIqJ6Qtfv71pNduoKJjtERET1j67f3/Wqzw4RERGRvpjsEBERkVFjskNERERGrU5PKlhTSrstGXrZCCIiIqo+pd/blXU/ZrIDID8/HwA4izIREVE9lJ+fD7lcXuF2jsYCoNFokJGRAXt7e8hkui/WWbrMxJUrVziK6yF4nSrHa1Q5XqPK8RrphtepcvXlGgkhkJ+fDw8PD5iYVNwzh092AJiYmKBJkyZV3p9LTuiG16lyvEaV4zWqHK+RbnidKlcfrtHDnuiUYgdlIiIiMmpMdoiIiMioMdl5BJaWloiKioKlpWVth1Kn8TpVjteocrxGleM10g2vU+WM7RqxgzIREREZNT7ZISIiIqPGZIeIiIiMGpMdIiIiMmpMdoiIiMioMdkpx8GDBxEaGgoPDw/IZDL8+OOPWtvHjh0LmUym9QoODtaqk5OTg5EjR8LBwQGOjo6YMGECbt26VYNnUX0WL16MJ598Evb29nB1dcXAgQORmpqqVaegoAARERFwdnaGnZ0dwsLCcO3aNa06ly9fRkhICGxsbODq6orZs2ejuLi4Jk+lWulynXr27FnmXpoyZYpWHWO+TitWrECbNm2kictUKhV27twpbed9VPk1auj3UHnefvttyGQyzJgxQyrjvVRWedfJaO8nQWXs2LFD/O9//xNbtmwRAMTWrVu1toeHh4vg4GCRmZkpvXJycrTqBAcHi7Zt24rff/9dHDp0SDRr1kwMHz68Bs+i+gQFBYnVq1eL5ORkkZiYKAYMGCAef/xxcevWLanOlClThKenp9izZ484fvy46NKli+jatau0vbi4WPj5+Yk+ffqIkydPih07dggXFxcRGRlZG6dULXS5Tj169BATJ07Uupdyc3Ol7cZ+nX766Sfx888/iz/++EOkpqaK119/XZibm4vk5GQhBO8jISq/Rg39HnpQfHy88Pb2Fm3atBHTp0+XynkvaavoOhnr/cRkpxIVJTvPPfdchfukpKQIAOLYsWNS2c6dO4VMJhNXr16tpkhrT3Z2tgAgDhw4IIQQ4ubNm8Lc3Fx8//33Up2zZ88KACIuLk4IUZJQmpiYiKysLKnOihUrhIODgygsLKzZE6ghD14nIUr+sNz/h+ZBDfE6NWrUSHzxxRe8jx6i9BoJwXvofvn5+aJ58+Zi165dWteF95K2iq6TEMZ7P7EZq4r2798PV1dXtGjRAlOnTsWNGzekbXFxcXB0dESnTp2ksj59+sDExARHjx6tjXCrVW5uLgDAyckJAHDixAncu3cPffr0keq0bNkSjz/+OOLi4gCUXCN/f3+4ublJdYKCgpCXl4czZ87UYPQ158HrVGr9+vVwcXGBn58fIiMjcefOHWlbQ7pOarUaGzduxO3bt6FSqXgflePBa1SK91CJiIgIhISEaN0zAP8mPaii61TKGO8nLgRaBcHBwRg8eDB8fHyQlpaG119/Hf3790dcXBxMTU2RlZUFV1dXrX3MzMzg5OSErKysWoq6emg0GsyYMQPdunWDn58fACArKwsWFhZwdHTUquvm5iadf1ZWltY/ltLtpduMTXnXCQBGjBgBLy8veHh44PTp05gzZw5SU1OxZcsWAA3jOiUlJUGlUqGgoAB2dnbYunUrlEolEhMTeR/9v4quEcB7qNTGjRuRkJCAY8eOldnGv0n/eth1Aoz3fmKyUwXPP/+89LO/vz/atGkDX19f7N+/H717967FyGpeREQEkpOTcfjw4doOpU6r6DpNmjRJ+tnf3x/u7u7o3bs30tLS4OvrW9Nh1ooWLVogMTERubm5+OGHHxAeHo4DBw7Udlh1SkXXSKlU8h4CcOXKFUyfPh27du2ClZVVbYdTZ+lynYz1fmIzlgE0bdoULi4uuHDhAgBAoVAgOztbq05xcTFycnKgUChqI8RqMW3aNGzfvh379u1DkyZNpHKFQoGioiLcvHlTq/61a9ek81coFGVGQpS+N6ZrBFR8ncrTuXNnANC6l4z9OllYWKBZs2bo2LEjFi9ejLZt2+Kjjz7ifXSfiq5ReRriPXTixAlkZ2ejQ4cOMDMzg5mZGQ4cOIBly5bBzMwMbm5uvJdQ+XVSq9Vl9jGW+4nJjgH89ddfuHHjBtzd3QEAKpUKN2/exIkTJ6Q6e/fuhUajkW6c+kwIgWnTpmHr1q3Yu3cvfHx8tLZ37NgR5ubm2LNnj1SWmpqKy5cvS/0MVCoVkpKStJLCXbt2wcHBQXo8X99Vdp3Kk5iYCABa95KxX6cHaTQaFBYW8j56iNJrVJ6GeA/17t0bSUlJSExMlF6dOnXCyJEjpZ95L1V+nUxNTcvsYzT3U233kK6L8vPzxcmTJ8XJkycFAPH++++LkydPikuXLon8/Hzx6quviri4OJGeni52794tOnToIJo3by4KCgqkYwQHB4v27duLo0ePisOHD4vmzZsbzdDzqVOnCrlcLvbv3681PPHOnTtSnSlTpojHH39c7N27Vxw/flyoVCqhUqmk7aXDF/v16ycSExNFbGysaNy4cZ0fvqiPyq7ThQsXxPz588Xx48dFenq62LZtm2jatKkIDAyUjmHs1+m1114TBw4cEOnp6eL06dPitddeEzKZTPz6669CCN5HQjz8GvEeqtiDo4p4L5Xv/utkzPcTk51y7Nu3TwAo8woPDxd37twR/fr1E40bNxbm5ubCy8tLTJw4UWsYnhBC3LhxQwwfPlzY2dkJBwcHMW7cOJGfn19LZ2RY5V0bAGL16tVSnbt374oXX3xRNGrUSNjY2IhBgwaJzMxMreNcvHhR9O/fX1hbWwsXFxfxyiuviHv37tXw2VSfyq7T5cuXRWBgoHBychKWlpaiWbNmYvbs2VpzWghh3Ndp/PjxwsvLS1hYWIjGjRuL3r17S4mOELyPhHj4NeI9VLEHkx3eS+W7/zoZ8/0kE0KImn6aRERERFRT2GeHiIiIjBqTHSIiIjJqTHaIiIjIqDHZISIiIqPGZIeIiIiMGpMdIiIiMmpMdoiIiMioMdkhojpFJpPhxx9/rDPHqWk9e/bEjBkzajsMIqPCZIeogYqLi4OpqSlCQkL03tfb2xsffvih4YPSUVZWFl566SU0bdoUlpaW8PT0RGhoqNbaR7XtzTffhEwmg0wmg5mZGby9vTFz5kzcunXroftt2bIFCxYsqKEoiRoGs9oOgIhqx5dffomXXnoJX375JTIyMuDh4VHbIenk4sWL6NatGxwdHbF06VL4+/vj3r17+OWXXxAREYFz587VdoiS1q1bY/fu3SguLsZvv/2G8ePH486dO/jss8/K1C0qKoKFhQWcnJxqIVIi48YnO0QN0K1bt/Ddd99h6tSpCAkJwZo1a8rUiYmJwZNPPgkrKyu4uLhg0KBBAEqaWS5duoSZM2dKTy6AkicZ7dq10zrGhx9+CG9vb+n9sWPH0LdvX7i4uEAul6NHjx5ISEjQK/YXX3wRMpkM8fHxCAsLwxNPPIHWrVtj1qxZ+P333yvcLykpCb169YK1tTWcnZ0xadIkracs+/fvR0BAAGxtbeHo6Ihu3brh0qVL0vZt27ahQ4cOsLKyQtOmTREdHY3i4uKHxmpmZgaFQoEmTZpg2LBhGDlyJH766ScA/16vL774Aj4+PrCysgJQthmrsLAQc+bMgaenJywtLdGsWTN8+eWX0vbk5GT0798fdnZ2cHNzw+jRo/H333/rdU2JjB2THaIGaNOmTWjZsiVatGiBUaNG4auvvsL9y+T9/PPPGDRoEAYMGICTJ09iz549CAgIAFDSzNKkSRPMnz8fmZmZyMzM1Plz8/PzER4ejsOHD+P3339H8+bNMWDAAOTn5+u0f05ODmJjYxEREQFbW9sy2x0dHcvd7/bt2wgKCkKjRo1w7NgxfP/999i9ezemTZsGACguLsbAgQPRo0cPnD59GnFxcZg0aZKUyB06dAhjxozB9OnTkZKSgs8++wxr1qzBwoULdT53ALC2tkZRUZH0/sKFC9i8eTO2bNmCxMTEcvcZM2YMvv32Wyxbtgxnz57FZ599Bjs7OwDAzZs30atXL7Rv3x7Hjx9HbGwsrl27hqFDh+oVF5HRq+WFSImoFnTt2lV8+OGHQggh7t27J1xcXMS+ffuk7SqVSowcObLC/b28vMQHH3ygVRYVFSXatm2rVfbBBx8ILy+vCo+jVquFvb29iImJkcoAiK1bt5Zb/+jRowKA2LJlS4XHLO84q1atEo0aNRK3bt2Stv/888/CxMREZGVliRs3bggAYv/+/eUeq3fv3mLRokVaZd98841wd3ev8PMfvB7Hjx8XLi4uYsiQIdJ2c3NzkZ2drbXf/atQp6amCgBi165d5X7GggULRL9+/bTKrly5IgCI1NTUCmMjamj4ZIeogUlNTUV8fDyGDx8OoKSpZdiwYVpNI4mJiejdu7fBP/vatWuYOHEimjdvDrlcDgcHB9y6dQuXL1/WaX9x39MnfZw9exZt27bVehrUrVs3aDQapKamwsnJCWPHjkVQUBBCQ0Px0UcfaT2xOnXqFObPnw87OzvpNXHiRGRmZuLOnTsVfm5SUhLs7OxgbW2NgIAAqFQqfPLJJ9J2Ly8vNG7cuML9ExMTYWpqih49epS7/dSpU9i3b59WXC1btgQApKWl6Xx9iIwdOygTNTBffvkliouLtTokCyFgaWmJTz75BHK5HNbW1nof18TEpEwycu/ePa334eHhuHHjBj766CN4eXnB0tISKpVKq2nnYZo3bw6ZTFYtnZBXr16Nl19+GbGxsfjuu+8wd+5c7Nq1C126dMGtW7cQHR2NwYMHl9mvtK9NeVq0aIGffvoJZmZm8PDwgIWFhdb28pri7lfZ7+HWrVsIDQ3FO++8U2abu7v7Q/clakj4ZIeoASkuLsbXX3+N9957D4mJidLr1KlT8PDwwLfffgsAaNOmzUOHcVtYWECtVmuVNW7cGFlZWVoJz4P9UH777Te8/PLLGDBgAFq3bg1LS0u9OtM6OTkhKCgIn376KW7fvl1m+82bN8vdr1WrVjh16pTWPr/99htMTEzQokULqax9+/aIjIzEkSNH4Ofnhw0bNgAAOnTogNTUVDRr1qzMy8Sk4j+jFhYWaNasGby9vcskOrrw9/eHRqPBgQMHyt3eoUMHnDlzBt7e3mXiqiyRImpImOwQNSDbt2/HP//8gwkTJsDPz0/rFRYWJjVlRUVF4dtvv0VUVBTOnj2LpKQkracH3t7eOHjwIK5evSolKz179sT169exZMkSpKWl4dNPP8XOnTu1Pr958+b45ptvcPbsWRw9ehQjR47U+ynSp59+CrVajYCAAGzevBnnz5/H2bNnsWzZMqhUqnL3GTlyJKysrBAeHo7k5GTs27cPL730EkaPHg03Nzekp6cjMjIScXFxuHTpEn799VecP38erVq1AgDMmzcPX3/9NaKjo3HmzBmcPXsWGzduxNy5c/WKXV/e3t4IDw/H+PHj8eOPPyI9PR379+/Hpk2bAAARERHIycnB8OHDcezYMaSlpeGXX37BuHHjyiSjRA1a7XYZIqKa9Mwzz4gBAwaUu6208++pU6eEEEJs3rxZtGvXTlhYWAgXFxcxePBgqW5cXJxo06aNsLS0FPf/GVmxYoXw9PQUtra2YsyYMWLhwoVaHZQTEhJEp06dhJWVlWjevLn4/vvvy3R2xkM6KJfKyMgQERERwsvLS1hYWIjHHntMPPvss1qdrB88zunTp8XTTz8trKyshJOTk5g4caLIz88XQgiRlZUlBg4cKNzd3YWFhYXw8vIS8+bNE2q1Wto/NjZWdO3aVVhbWwsHBwcREBAgVq1aVWGM5XXY1mX7/R2UhRDi7t27YubMmVJszZo1E1999ZW0/Y8//hCDBg0Sjo6OwtraWrRs2VLMmDFDaDSaii8gUQMjE6KKPf6IiIiI6gE2YxEREZFRY7JDRERERo3JDhERERk1JjtERERk1JjsEBERkVFjskNERERGjckOERERGTUmO0RERGTUmOwQERGRUWOyQ0REREaNyQ4REREZNSY7REREZNT+D7ei2VZHonAiAAAAAElFTkSuQmCC"/>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4" name="Rectangle 3"/>
          <p:cNvSpPr/>
          <p:nvPr/>
        </p:nvSpPr>
        <p:spPr>
          <a:xfrm>
            <a:off x="717964" y="4437082"/>
            <a:ext cx="7128792" cy="1568450"/>
          </a:xfrm>
          <a:prstGeom prst="rect">
            <a:avLst/>
          </a:prstGeom>
        </p:spPr>
        <p:txBody>
          <a:bodyPr wrap="square">
            <a:spAutoFit/>
          </a:bodyPr>
          <a:lstStyle/>
          <a:p>
            <a:r>
              <a:rPr lang="en-US" altLang="en-US" sz="2400" b="1" dirty="0" smtClean="0"/>
              <a:t>Reason:</a:t>
            </a:r>
            <a:r>
              <a:rPr lang="en-US" altLang="en-US" dirty="0" smtClean="0"/>
              <a:t> Strong correlation among price features</a:t>
            </a:r>
            <a:endParaRPr lang="en-US" altLang="en-US" dirty="0" smtClean="0"/>
          </a:p>
          <a:p>
            <a:endParaRPr lang="en-US" dirty="0" smtClean="0"/>
          </a:p>
          <a:p>
            <a:r>
              <a:rPr lang="en-US" dirty="0" smtClean="0"/>
              <a:t>Stock price features such as Open, High, Low, and Adjusted Close are highly correlated with the closing price, the models achieved very high accuracy, leading to similar prediction patterns across models.</a:t>
            </a:r>
            <a:endParaRPr lang="en-IN" dirty="0"/>
          </a:p>
        </p:txBody>
      </p:sp>
      <p:sp>
        <p:nvSpPr>
          <p:cNvPr id="5" name="Rectangle 4"/>
          <p:cNvSpPr/>
          <p:nvPr/>
        </p:nvSpPr>
        <p:spPr>
          <a:xfrm>
            <a:off x="704936" y="3925177"/>
            <a:ext cx="3034030" cy="398780"/>
          </a:xfrm>
          <a:prstGeom prst="rect">
            <a:avLst/>
          </a:prstGeom>
        </p:spPr>
        <p:txBody>
          <a:bodyPr wrap="none">
            <a:spAutoFit/>
          </a:bodyPr>
          <a:lstStyle/>
          <a:p>
            <a:r>
              <a:rPr lang="en-US" b="1" dirty="0" smtClean="0">
                <a:solidFill>
                  <a:schemeClr val="accent5">
                    <a:lumMod val="50000"/>
                  </a:schemeClr>
                </a:solidFill>
              </a:rPr>
              <a:t>“</a:t>
            </a:r>
            <a:r>
              <a:rPr lang="en-US" sz="2000" b="1" dirty="0" smtClean="0">
                <a:solidFill>
                  <a:schemeClr val="accent5">
                    <a:lumMod val="50000"/>
                  </a:schemeClr>
                </a:solidFill>
              </a:rPr>
              <a:t>Why are results so good?”</a:t>
            </a:r>
            <a:endParaRPr lang="en-US" sz="2000" b="1" dirty="0" smtClean="0">
              <a:solidFill>
                <a:schemeClr val="accent5">
                  <a:lumMod val="50000"/>
                </a:schemeClr>
              </a:solidFill>
            </a:endParaRPr>
          </a:p>
        </p:txBody>
      </p:sp>
      <p:sp>
        <p:nvSpPr>
          <p:cNvPr id="6" name="Rectangle 5"/>
          <p:cNvSpPr/>
          <p:nvPr/>
        </p:nvSpPr>
        <p:spPr>
          <a:xfrm>
            <a:off x="717964" y="1988840"/>
            <a:ext cx="6768752" cy="1508105"/>
          </a:xfrm>
          <a:prstGeom prst="rect">
            <a:avLst/>
          </a:prstGeom>
        </p:spPr>
        <p:txBody>
          <a:bodyPr wrap="square">
            <a:spAutoFit/>
          </a:bodyPr>
          <a:lstStyle/>
          <a:p>
            <a:r>
              <a:rPr lang="en-US" sz="2000" b="1" dirty="0" smtClean="0">
                <a:solidFill>
                  <a:schemeClr val="accent5">
                    <a:lumMod val="50000"/>
                  </a:schemeClr>
                </a:solidFill>
              </a:rPr>
              <a:t>Metrics used:</a:t>
            </a:r>
            <a:endParaRPr lang="en-US" sz="2000" b="1" dirty="0" smtClean="0">
              <a:solidFill>
                <a:schemeClr val="accent5">
                  <a:lumMod val="50000"/>
                </a:schemeClr>
              </a:solidFill>
            </a:endParaRPr>
          </a:p>
          <a:p>
            <a:pPr marL="742950" lvl="1" indent="-285750">
              <a:buFont typeface="Courier New" panose="02070309020205020404" pitchFamily="49" charset="0"/>
              <a:buChar char="o"/>
            </a:pPr>
            <a:r>
              <a:rPr lang="en-US" dirty="0" smtClean="0"/>
              <a:t>R² Score</a:t>
            </a:r>
            <a:endParaRPr lang="en-US" dirty="0" smtClean="0"/>
          </a:p>
          <a:p>
            <a:pPr marL="742950" lvl="1" indent="-285750">
              <a:buFont typeface="Courier New" panose="02070309020205020404" pitchFamily="49" charset="0"/>
              <a:buChar char="o"/>
            </a:pPr>
            <a:r>
              <a:rPr lang="en-US" dirty="0" smtClean="0"/>
              <a:t>RMSE</a:t>
            </a:r>
            <a:endParaRPr lang="en-US" dirty="0" smtClean="0"/>
          </a:p>
          <a:p>
            <a:r>
              <a:rPr lang="en-US" dirty="0" smtClean="0"/>
              <a:t>R² evaluates explained variance</a:t>
            </a:r>
            <a:endParaRPr lang="en-US" dirty="0" smtClean="0"/>
          </a:p>
          <a:p>
            <a:r>
              <a:rPr lang="en-US" dirty="0" smtClean="0"/>
              <a:t>RMSE measures prediction error</a:t>
            </a:r>
            <a:endParaRPr lang="en-US" dirty="0"/>
          </a:p>
        </p:txBody>
      </p:sp>
      <p:sp>
        <p:nvSpPr>
          <p:cNvPr id="7" name="Rectangle 6"/>
          <p:cNvSpPr/>
          <p:nvPr/>
        </p:nvSpPr>
        <p:spPr>
          <a:xfrm>
            <a:off x="2253885" y="1052736"/>
            <a:ext cx="3696910" cy="461665"/>
          </a:xfrm>
          <a:prstGeom prst="rect">
            <a:avLst/>
          </a:prstGeom>
        </p:spPr>
        <p:txBody>
          <a:bodyPr wrap="none">
            <a:spAutoFit/>
          </a:bodyPr>
          <a:lstStyle/>
          <a:p>
            <a:pPr algn="ctr"/>
            <a:r>
              <a:rPr lang="en-US" sz="2400" b="1" dirty="0" smtClean="0"/>
              <a:t>Performance Measurement</a:t>
            </a:r>
            <a:endParaRPr lang="en-US" sz="2400" dirty="0" smtClean="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Adjacency</Template>
  <TotalTime>0</TotalTime>
  <Words>843</Words>
  <Application>WPS Presentation</Application>
  <PresentationFormat>On-screen Show (4:3)</PresentationFormat>
  <Paragraphs>32</Paragraphs>
  <Slides>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vt:i4>
      </vt:variant>
    </vt:vector>
  </HeadingPairs>
  <TitlesOfParts>
    <vt:vector size="13" baseType="lpstr">
      <vt:lpstr>Arial</vt:lpstr>
      <vt:lpstr>SimSun</vt:lpstr>
      <vt:lpstr>Wingdings</vt:lpstr>
      <vt:lpstr>Courier New</vt:lpstr>
      <vt:lpstr>Calibri</vt:lpstr>
      <vt:lpstr>Cambria</vt:lpstr>
      <vt:lpstr>Microsoft YaHei</vt:lpstr>
      <vt:lpstr>Arial Unicode MS</vt:lpstr>
      <vt:lpstr>Arial Black</vt:lpstr>
      <vt:lpstr>Adjacency</vt:lpstr>
      <vt:lpstr>Project Overview Stock Price Prediction using Regression </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Overview Stock Price Prediction using Regression</dc:title>
  <dc:creator>MYPC</dc:creator>
  <cp:lastModifiedBy>akunaRiyaSankar</cp:lastModifiedBy>
  <cp:revision>3</cp:revision>
  <dcterms:created xsi:type="dcterms:W3CDTF">2025-12-26T07:02:00Z</dcterms:created>
  <dcterms:modified xsi:type="dcterms:W3CDTF">2025-12-26T07:24:05Z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8E690FCAFBED4AA993BE15B7491D7522_12</vt:lpwstr>
  </property>
  <property fmtid="{D5CDD505-2E9C-101B-9397-08002B2CF9AE}" pid="3" name="KSOProductBuildVer">
    <vt:lpwstr>1033-12.2.0.23196</vt:lpwstr>
  </property>
</Properties>
</file>